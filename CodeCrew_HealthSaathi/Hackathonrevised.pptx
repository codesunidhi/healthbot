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2"/>
  </p:notesMasterIdLst>
  <p:sldIdLst>
    <p:sldId id="297" r:id="rId2"/>
    <p:sldId id="298" r:id="rId3"/>
    <p:sldId id="300" r:id="rId4"/>
    <p:sldId id="301" r:id="rId5"/>
    <p:sldId id="302" r:id="rId6"/>
    <p:sldId id="303" r:id="rId7"/>
    <p:sldId id="304" r:id="rId8"/>
    <p:sldId id="305" r:id="rId9"/>
    <p:sldId id="306" r:id="rId10"/>
    <p:sldId id="308" r:id="rId11"/>
  </p:sldIdLst>
  <p:sldSz cx="9144000" cy="5143500" type="screen16x9"/>
  <p:notesSz cx="6858000" cy="9144000"/>
  <p:embeddedFontLst>
    <p:embeddedFont>
      <p:font typeface="Cooper Black" panose="0208090404030B020404" pitchFamily="18" charset="0"/>
      <p:regular r:id="rId13"/>
    </p:embeddedFont>
    <p:embeddedFont>
      <p:font typeface="DM Sans" pitchFamily="2" charset="0"/>
      <p:regular r:id="rId14"/>
      <p:bold r:id="rId15"/>
      <p:italic r:id="rId16"/>
      <p:boldItalic r:id="rId17"/>
    </p:embeddedFont>
    <p:embeddedFont>
      <p:font typeface="Kanit" panose="020B0604020202020204" charset="-34"/>
      <p:regular r:id="rId18"/>
      <p:bold r:id="rId19"/>
      <p:italic r:id="rId20"/>
      <p:boldItalic r:id="rId21"/>
    </p:embeddedFont>
    <p:embeddedFont>
      <p:font typeface="Sans Serif Collection" panose="020B0502040504020204" pitchFamily="34"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94EC05-5408-4EE7-955D-72EA7917D76A}">
  <a:tblStyle styleId="{A594EC05-5408-4EE7-955D-72EA7917D7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2468FAD-B350-4B2D-A7CD-E5E48E59145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763"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60000"/>
          </a:blip>
          <a:stretch>
            <a:fillRect/>
          </a:stretch>
        </p:blipFill>
        <p:spPr>
          <a:xfrm>
            <a:off x="1850" y="0"/>
            <a:ext cx="9140300" cy="5143501"/>
          </a:xfrm>
          <a:prstGeom prst="rect">
            <a:avLst/>
          </a:prstGeom>
          <a:noFill/>
          <a:ln>
            <a:noFill/>
          </a:ln>
        </p:spPr>
      </p:pic>
      <p:pic>
        <p:nvPicPr>
          <p:cNvPr id="10" name="Google Shape;10;p2"/>
          <p:cNvPicPr preferRelativeResize="0"/>
          <p:nvPr/>
        </p:nvPicPr>
        <p:blipFill>
          <a:blip r:embed="rId3">
            <a:alphaModFix amt="60000"/>
          </a:blip>
          <a:stretch>
            <a:fillRect/>
          </a:stretch>
        </p:blipFill>
        <p:spPr>
          <a:xfrm>
            <a:off x="0" y="0"/>
            <a:ext cx="9144003" cy="5143501"/>
          </a:xfrm>
          <a:prstGeom prst="rect">
            <a:avLst/>
          </a:prstGeom>
          <a:noFill/>
          <a:ln>
            <a:noFill/>
          </a:ln>
        </p:spPr>
      </p:pic>
      <p:sp>
        <p:nvSpPr>
          <p:cNvPr id="11" name="Google Shape;11;p2"/>
          <p:cNvSpPr txBox="1">
            <a:spLocks noGrp="1"/>
          </p:cNvSpPr>
          <p:nvPr>
            <p:ph type="ctrTitle"/>
          </p:nvPr>
        </p:nvSpPr>
        <p:spPr>
          <a:xfrm>
            <a:off x="2061450" y="1238850"/>
            <a:ext cx="5021100" cy="2180400"/>
          </a:xfrm>
          <a:prstGeom prst="rect">
            <a:avLst/>
          </a:prstGeom>
        </p:spPr>
        <p:txBody>
          <a:bodyPr spcFirstLastPara="1" wrap="square" lIns="91425" tIns="91425" rIns="91425" bIns="91425" anchor="b" anchorCtr="0">
            <a:noAutofit/>
          </a:bodyPr>
          <a:lstStyle>
            <a:lvl1pPr lvl="0" algn="l" rtl="0">
              <a:spcBef>
                <a:spcPts val="0"/>
              </a:spcBef>
              <a:spcAft>
                <a:spcPts val="0"/>
              </a:spcAft>
              <a:buSzPts val="5200"/>
              <a:buNone/>
              <a:defRPr sz="4500">
                <a:latin typeface="Kanit"/>
                <a:ea typeface="Kanit"/>
                <a:cs typeface="Kanit"/>
                <a:sym typeface="Kanit"/>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061450" y="3495150"/>
            <a:ext cx="4396500" cy="40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pic>
        <p:nvPicPr>
          <p:cNvPr id="13" name="Google Shape;13;p2"/>
          <p:cNvPicPr preferRelativeResize="0"/>
          <p:nvPr/>
        </p:nvPicPr>
        <p:blipFill>
          <a:blip r:embed="rId4">
            <a:alphaModFix/>
          </a:blip>
          <a:stretch>
            <a:fillRect/>
          </a:stretch>
        </p:blipFill>
        <p:spPr>
          <a:xfrm>
            <a:off x="-129850" y="4092150"/>
            <a:ext cx="3735552" cy="3409051"/>
          </a:xfrm>
          <a:prstGeom prst="rect">
            <a:avLst/>
          </a:prstGeom>
          <a:noFill/>
          <a:ln>
            <a:noFill/>
          </a:ln>
        </p:spPr>
      </p:pic>
      <p:grpSp>
        <p:nvGrpSpPr>
          <p:cNvPr id="14" name="Google Shape;14;p2"/>
          <p:cNvGrpSpPr/>
          <p:nvPr/>
        </p:nvGrpSpPr>
        <p:grpSpPr>
          <a:xfrm rot="5400000">
            <a:off x="-267234" y="495836"/>
            <a:ext cx="1348030" cy="584982"/>
            <a:chOff x="407575" y="1938150"/>
            <a:chExt cx="2049300" cy="889300"/>
          </a:xfrm>
        </p:grpSpPr>
        <p:sp>
          <p:nvSpPr>
            <p:cNvPr id="15" name="Google Shape;15;p2"/>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347150" y="4214300"/>
            <a:ext cx="8301875" cy="711400"/>
            <a:chOff x="347150" y="4214300"/>
            <a:chExt cx="8301875" cy="711400"/>
          </a:xfrm>
        </p:grpSpPr>
        <p:sp>
          <p:nvSpPr>
            <p:cNvPr id="19" name="Google Shape;19;p2"/>
            <p:cNvSpPr/>
            <p:nvPr/>
          </p:nvSpPr>
          <p:spPr>
            <a:xfrm>
              <a:off x="347150" y="42143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08625" y="4388225"/>
              <a:ext cx="440400" cy="440400"/>
            </a:xfrm>
            <a:prstGeom prst="star4">
              <a:avLst>
                <a:gd name="adj" fmla="val 725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877000" y="46470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0"/>
        <p:cNvGrpSpPr/>
        <p:nvPr/>
      </p:nvGrpSpPr>
      <p:grpSpPr>
        <a:xfrm>
          <a:off x="0" y="0"/>
          <a:ext cx="0" cy="0"/>
          <a:chOff x="0" y="0"/>
          <a:chExt cx="0" cy="0"/>
        </a:xfrm>
      </p:grpSpPr>
      <p:pic>
        <p:nvPicPr>
          <p:cNvPr id="101" name="Google Shape;101;p8"/>
          <p:cNvPicPr preferRelativeResize="0"/>
          <p:nvPr/>
        </p:nvPicPr>
        <p:blipFill>
          <a:blip r:embed="rId2">
            <a:alphaModFix amt="60000"/>
          </a:blip>
          <a:stretch>
            <a:fillRect/>
          </a:stretch>
        </p:blipFill>
        <p:spPr>
          <a:xfrm>
            <a:off x="1850" y="0"/>
            <a:ext cx="9140300" cy="5143501"/>
          </a:xfrm>
          <a:prstGeom prst="rect">
            <a:avLst/>
          </a:prstGeom>
          <a:noFill/>
          <a:ln>
            <a:noFill/>
          </a:ln>
        </p:spPr>
      </p:pic>
      <p:pic>
        <p:nvPicPr>
          <p:cNvPr id="102" name="Google Shape;102;p8"/>
          <p:cNvPicPr preferRelativeResize="0"/>
          <p:nvPr/>
        </p:nvPicPr>
        <p:blipFill>
          <a:blip r:embed="rId3">
            <a:alphaModFix amt="60000"/>
          </a:blip>
          <a:stretch>
            <a:fillRect/>
          </a:stretch>
        </p:blipFill>
        <p:spPr>
          <a:xfrm>
            <a:off x="0" y="0"/>
            <a:ext cx="9144003" cy="5143501"/>
          </a:xfrm>
          <a:prstGeom prst="rect">
            <a:avLst/>
          </a:prstGeom>
          <a:noFill/>
          <a:ln>
            <a:noFill/>
          </a:ln>
        </p:spPr>
      </p:pic>
      <p:sp>
        <p:nvSpPr>
          <p:cNvPr id="103" name="Google Shape;103;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pic>
        <p:nvPicPr>
          <p:cNvPr id="104" name="Google Shape;104;p8"/>
          <p:cNvPicPr preferRelativeResize="0"/>
          <p:nvPr/>
        </p:nvPicPr>
        <p:blipFill>
          <a:blip r:embed="rId4">
            <a:alphaModFix/>
          </a:blip>
          <a:stretch>
            <a:fillRect/>
          </a:stretch>
        </p:blipFill>
        <p:spPr>
          <a:xfrm>
            <a:off x="-162350" y="-1998450"/>
            <a:ext cx="3735552" cy="3409051"/>
          </a:xfrm>
          <a:prstGeom prst="rect">
            <a:avLst/>
          </a:prstGeom>
          <a:noFill/>
          <a:ln>
            <a:noFill/>
          </a:ln>
        </p:spPr>
      </p:pic>
      <p:grpSp>
        <p:nvGrpSpPr>
          <p:cNvPr id="105" name="Google Shape;105;p8"/>
          <p:cNvGrpSpPr/>
          <p:nvPr/>
        </p:nvGrpSpPr>
        <p:grpSpPr>
          <a:xfrm rot="5400000">
            <a:off x="-251409" y="3959186"/>
            <a:ext cx="1348030" cy="584982"/>
            <a:chOff x="407575" y="1938150"/>
            <a:chExt cx="2049300" cy="889300"/>
          </a:xfrm>
        </p:grpSpPr>
        <p:sp>
          <p:nvSpPr>
            <p:cNvPr id="106" name="Google Shape;106;p8"/>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8"/>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 name="Google Shape;109;p8"/>
          <p:cNvGrpSpPr/>
          <p:nvPr/>
        </p:nvGrpSpPr>
        <p:grpSpPr>
          <a:xfrm>
            <a:off x="194338" y="3109875"/>
            <a:ext cx="8454688" cy="1815825"/>
            <a:chOff x="194338" y="3109875"/>
            <a:chExt cx="8454688" cy="1815825"/>
          </a:xfrm>
        </p:grpSpPr>
        <p:sp>
          <p:nvSpPr>
            <p:cNvPr id="110" name="Google Shape;110;p8"/>
            <p:cNvSpPr/>
            <p:nvPr/>
          </p:nvSpPr>
          <p:spPr>
            <a:xfrm>
              <a:off x="194338" y="3109875"/>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8208625" y="4388225"/>
              <a:ext cx="440400" cy="440400"/>
            </a:xfrm>
            <a:prstGeom prst="star4">
              <a:avLst>
                <a:gd name="adj" fmla="val 725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a:off x="7877000" y="46470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113;p8"/>
          <p:cNvGrpSpPr/>
          <p:nvPr/>
        </p:nvGrpSpPr>
        <p:grpSpPr>
          <a:xfrm>
            <a:off x="7841566" y="-352302"/>
            <a:ext cx="2993464" cy="2993464"/>
            <a:chOff x="4813700" y="-1616200"/>
            <a:chExt cx="4079400" cy="4079400"/>
          </a:xfrm>
        </p:grpSpPr>
        <p:sp>
          <p:nvSpPr>
            <p:cNvPr id="114" name="Google Shape;114;p8"/>
            <p:cNvSpPr/>
            <p:nvPr/>
          </p:nvSpPr>
          <p:spPr>
            <a:xfrm>
              <a:off x="4813700" y="-1616200"/>
              <a:ext cx="4079400" cy="407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5" name="Google Shape;115;p8"/>
            <p:cNvSpPr/>
            <p:nvPr/>
          </p:nvSpPr>
          <p:spPr>
            <a:xfrm>
              <a:off x="4813700" y="-1063300"/>
              <a:ext cx="4079400" cy="2973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 name="Google Shape;116;p8"/>
            <p:cNvSpPr/>
            <p:nvPr/>
          </p:nvSpPr>
          <p:spPr>
            <a:xfrm>
              <a:off x="4813700" y="-514750"/>
              <a:ext cx="4079400" cy="1876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 name="Google Shape;117;p8"/>
            <p:cNvSpPr/>
            <p:nvPr/>
          </p:nvSpPr>
          <p:spPr>
            <a:xfrm>
              <a:off x="4813700" y="-24700"/>
              <a:ext cx="4079400" cy="89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 name="Google Shape;118;p8"/>
            <p:cNvSpPr/>
            <p:nvPr/>
          </p:nvSpPr>
          <p:spPr>
            <a:xfrm rot="5400000">
              <a:off x="4813700" y="-1192300"/>
              <a:ext cx="4079400" cy="323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 name="Google Shape;119;p8"/>
            <p:cNvSpPr/>
            <p:nvPr/>
          </p:nvSpPr>
          <p:spPr>
            <a:xfrm rot="5400000">
              <a:off x="4813643" y="-596200"/>
              <a:ext cx="4079400" cy="203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0" name="Google Shape;120;p8"/>
            <p:cNvSpPr/>
            <p:nvPr/>
          </p:nvSpPr>
          <p:spPr>
            <a:xfrm rot="5400000">
              <a:off x="4813563" y="-63700"/>
              <a:ext cx="4079400" cy="97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1"/>
        <p:cNvGrpSpPr/>
        <p:nvPr/>
      </p:nvGrpSpPr>
      <p:grpSpPr>
        <a:xfrm>
          <a:off x="0" y="0"/>
          <a:ext cx="0" cy="0"/>
          <a:chOff x="0" y="0"/>
          <a:chExt cx="0" cy="0"/>
        </a:xfrm>
      </p:grpSpPr>
      <p:pic>
        <p:nvPicPr>
          <p:cNvPr id="122" name="Google Shape;122;p9"/>
          <p:cNvPicPr preferRelativeResize="0"/>
          <p:nvPr/>
        </p:nvPicPr>
        <p:blipFill>
          <a:blip r:embed="rId2">
            <a:alphaModFix amt="60000"/>
          </a:blip>
          <a:stretch>
            <a:fillRect/>
          </a:stretch>
        </p:blipFill>
        <p:spPr>
          <a:xfrm>
            <a:off x="1850" y="0"/>
            <a:ext cx="9140300" cy="5143501"/>
          </a:xfrm>
          <a:prstGeom prst="rect">
            <a:avLst/>
          </a:prstGeom>
          <a:noFill/>
          <a:ln>
            <a:noFill/>
          </a:ln>
        </p:spPr>
      </p:pic>
      <p:sp>
        <p:nvSpPr>
          <p:cNvPr id="123" name="Google Shape;123;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4" name="Google Shape;124;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125" name="Google Shape;125;p9"/>
          <p:cNvPicPr preferRelativeResize="0"/>
          <p:nvPr/>
        </p:nvPicPr>
        <p:blipFill>
          <a:blip r:embed="rId3">
            <a:alphaModFix/>
          </a:blip>
          <a:stretch>
            <a:fillRect/>
          </a:stretch>
        </p:blipFill>
        <p:spPr>
          <a:xfrm>
            <a:off x="8031550" y="1485400"/>
            <a:ext cx="3735552" cy="3409051"/>
          </a:xfrm>
          <a:prstGeom prst="rect">
            <a:avLst/>
          </a:prstGeom>
          <a:noFill/>
          <a:ln>
            <a:noFill/>
          </a:ln>
        </p:spPr>
      </p:pic>
      <p:grpSp>
        <p:nvGrpSpPr>
          <p:cNvPr id="126" name="Google Shape;126;p9"/>
          <p:cNvGrpSpPr/>
          <p:nvPr/>
        </p:nvGrpSpPr>
        <p:grpSpPr>
          <a:xfrm rot="5400000">
            <a:off x="-267234" y="495836"/>
            <a:ext cx="1348030" cy="584982"/>
            <a:chOff x="407575" y="1938150"/>
            <a:chExt cx="2049300" cy="889300"/>
          </a:xfrm>
        </p:grpSpPr>
        <p:sp>
          <p:nvSpPr>
            <p:cNvPr id="127" name="Google Shape;127;p9"/>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9"/>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9"/>
          <p:cNvGrpSpPr/>
          <p:nvPr/>
        </p:nvGrpSpPr>
        <p:grpSpPr>
          <a:xfrm flipH="1">
            <a:off x="347150" y="4388225"/>
            <a:ext cx="8472400" cy="537475"/>
            <a:chOff x="176625" y="4388225"/>
            <a:chExt cx="8472400" cy="537475"/>
          </a:xfrm>
        </p:grpSpPr>
        <p:sp>
          <p:nvSpPr>
            <p:cNvPr id="131" name="Google Shape;131;p9"/>
            <p:cNvSpPr/>
            <p:nvPr/>
          </p:nvSpPr>
          <p:spPr>
            <a:xfrm>
              <a:off x="176625" y="46085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a:off x="8208625" y="4388225"/>
              <a:ext cx="440400" cy="440400"/>
            </a:xfrm>
            <a:prstGeom prst="star4">
              <a:avLst>
                <a:gd name="adj" fmla="val 725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a:off x="7877000" y="46470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99"/>
        <p:cNvGrpSpPr/>
        <p:nvPr/>
      </p:nvGrpSpPr>
      <p:grpSpPr>
        <a:xfrm>
          <a:off x="0" y="0"/>
          <a:ext cx="0" cy="0"/>
          <a:chOff x="0" y="0"/>
          <a:chExt cx="0" cy="0"/>
        </a:xfrm>
      </p:grpSpPr>
      <p:pic>
        <p:nvPicPr>
          <p:cNvPr id="200" name="Google Shape;200;p15"/>
          <p:cNvPicPr preferRelativeResize="0"/>
          <p:nvPr/>
        </p:nvPicPr>
        <p:blipFill>
          <a:blip r:embed="rId2">
            <a:alphaModFix amt="60000"/>
          </a:blip>
          <a:stretch>
            <a:fillRect/>
          </a:stretch>
        </p:blipFill>
        <p:spPr>
          <a:xfrm rot="10800000">
            <a:off x="1" y="1"/>
            <a:ext cx="9127824" cy="5136474"/>
          </a:xfrm>
          <a:prstGeom prst="rect">
            <a:avLst/>
          </a:prstGeom>
          <a:noFill/>
          <a:ln>
            <a:noFill/>
          </a:ln>
        </p:spPr>
      </p:pic>
      <p:sp>
        <p:nvSpPr>
          <p:cNvPr id="201" name="Google Shape;201;p15"/>
          <p:cNvSpPr txBox="1">
            <a:spLocks noGrp="1"/>
          </p:cNvSpPr>
          <p:nvPr>
            <p:ph type="subTitle" idx="1"/>
          </p:nvPr>
        </p:nvSpPr>
        <p:spPr>
          <a:xfrm>
            <a:off x="720000" y="1212525"/>
            <a:ext cx="7704000" cy="339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202" name="Google Shape;202;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03" name="Google Shape;203;p15"/>
          <p:cNvPicPr preferRelativeResize="0"/>
          <p:nvPr/>
        </p:nvPicPr>
        <p:blipFill>
          <a:blip r:embed="rId3">
            <a:alphaModFix/>
          </a:blip>
          <a:stretch>
            <a:fillRect/>
          </a:stretch>
        </p:blipFill>
        <p:spPr>
          <a:xfrm>
            <a:off x="7016450" y="4092150"/>
            <a:ext cx="3735552" cy="3409051"/>
          </a:xfrm>
          <a:prstGeom prst="rect">
            <a:avLst/>
          </a:prstGeom>
          <a:noFill/>
          <a:ln>
            <a:noFill/>
          </a:ln>
        </p:spPr>
      </p:pic>
      <p:grpSp>
        <p:nvGrpSpPr>
          <p:cNvPr id="204" name="Google Shape;204;p15"/>
          <p:cNvGrpSpPr/>
          <p:nvPr/>
        </p:nvGrpSpPr>
        <p:grpSpPr>
          <a:xfrm rot="5400000">
            <a:off x="8047366" y="601411"/>
            <a:ext cx="1348030" cy="584982"/>
            <a:chOff x="407575" y="1938150"/>
            <a:chExt cx="2049300" cy="889300"/>
          </a:xfrm>
        </p:grpSpPr>
        <p:sp>
          <p:nvSpPr>
            <p:cNvPr id="205" name="Google Shape;205;p15"/>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5"/>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5"/>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5"/>
          <p:cNvGrpSpPr/>
          <p:nvPr/>
        </p:nvGrpSpPr>
        <p:grpSpPr>
          <a:xfrm flipH="1">
            <a:off x="166450" y="219875"/>
            <a:ext cx="621100" cy="4795150"/>
            <a:chOff x="8208625" y="219875"/>
            <a:chExt cx="621100" cy="4795150"/>
          </a:xfrm>
        </p:grpSpPr>
        <p:sp>
          <p:nvSpPr>
            <p:cNvPr id="209" name="Google Shape;209;p15"/>
            <p:cNvSpPr/>
            <p:nvPr/>
          </p:nvSpPr>
          <p:spPr>
            <a:xfrm>
              <a:off x="8494175" y="219875"/>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5"/>
            <p:cNvSpPr/>
            <p:nvPr/>
          </p:nvSpPr>
          <p:spPr>
            <a:xfrm>
              <a:off x="8208625" y="4388225"/>
              <a:ext cx="440400" cy="440400"/>
            </a:xfrm>
            <a:prstGeom prst="star4">
              <a:avLst>
                <a:gd name="adj" fmla="val 725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p:cNvSpPr/>
            <p:nvPr/>
          </p:nvSpPr>
          <p:spPr>
            <a:xfrm>
              <a:off x="8551025" y="4736325"/>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27"/>
        <p:cNvGrpSpPr/>
        <p:nvPr/>
      </p:nvGrpSpPr>
      <p:grpSpPr>
        <a:xfrm>
          <a:off x="0" y="0"/>
          <a:ext cx="0" cy="0"/>
          <a:chOff x="0" y="0"/>
          <a:chExt cx="0" cy="0"/>
        </a:xfrm>
      </p:grpSpPr>
      <p:pic>
        <p:nvPicPr>
          <p:cNvPr id="328" name="Google Shape;328;p23"/>
          <p:cNvPicPr preferRelativeResize="0"/>
          <p:nvPr/>
        </p:nvPicPr>
        <p:blipFill>
          <a:blip r:embed="rId2">
            <a:alphaModFix amt="60000"/>
          </a:blip>
          <a:stretch>
            <a:fillRect/>
          </a:stretch>
        </p:blipFill>
        <p:spPr>
          <a:xfrm>
            <a:off x="1850" y="0"/>
            <a:ext cx="9140300" cy="5143501"/>
          </a:xfrm>
          <a:prstGeom prst="rect">
            <a:avLst/>
          </a:prstGeom>
          <a:noFill/>
          <a:ln>
            <a:noFill/>
          </a:ln>
        </p:spPr>
      </p:pic>
      <p:pic>
        <p:nvPicPr>
          <p:cNvPr id="329" name="Google Shape;329;p23"/>
          <p:cNvPicPr preferRelativeResize="0"/>
          <p:nvPr/>
        </p:nvPicPr>
        <p:blipFill>
          <a:blip r:embed="rId3">
            <a:alphaModFix amt="60000"/>
          </a:blip>
          <a:stretch>
            <a:fillRect/>
          </a:stretch>
        </p:blipFill>
        <p:spPr>
          <a:xfrm>
            <a:off x="0" y="0"/>
            <a:ext cx="9144003" cy="5143501"/>
          </a:xfrm>
          <a:prstGeom prst="rect">
            <a:avLst/>
          </a:prstGeom>
          <a:noFill/>
          <a:ln>
            <a:noFill/>
          </a:ln>
        </p:spPr>
      </p:pic>
      <p:pic>
        <p:nvPicPr>
          <p:cNvPr id="330" name="Google Shape;330;p23"/>
          <p:cNvPicPr preferRelativeResize="0"/>
          <p:nvPr/>
        </p:nvPicPr>
        <p:blipFill>
          <a:blip r:embed="rId4">
            <a:alphaModFix/>
          </a:blip>
          <a:stretch>
            <a:fillRect/>
          </a:stretch>
        </p:blipFill>
        <p:spPr>
          <a:xfrm>
            <a:off x="-129850" y="4092150"/>
            <a:ext cx="3735552" cy="3409051"/>
          </a:xfrm>
          <a:prstGeom prst="rect">
            <a:avLst/>
          </a:prstGeom>
          <a:noFill/>
          <a:ln>
            <a:noFill/>
          </a:ln>
        </p:spPr>
      </p:pic>
      <p:grpSp>
        <p:nvGrpSpPr>
          <p:cNvPr id="331" name="Google Shape;331;p23"/>
          <p:cNvGrpSpPr/>
          <p:nvPr/>
        </p:nvGrpSpPr>
        <p:grpSpPr>
          <a:xfrm rot="5400000">
            <a:off x="-267234" y="495836"/>
            <a:ext cx="1348030" cy="584982"/>
            <a:chOff x="407575" y="1938150"/>
            <a:chExt cx="2049300" cy="889300"/>
          </a:xfrm>
        </p:grpSpPr>
        <p:sp>
          <p:nvSpPr>
            <p:cNvPr id="332" name="Google Shape;332;p23"/>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3"/>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3"/>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23"/>
          <p:cNvGrpSpPr/>
          <p:nvPr/>
        </p:nvGrpSpPr>
        <p:grpSpPr>
          <a:xfrm>
            <a:off x="347150" y="4214300"/>
            <a:ext cx="8301875" cy="711400"/>
            <a:chOff x="347150" y="4214300"/>
            <a:chExt cx="8301875" cy="711400"/>
          </a:xfrm>
        </p:grpSpPr>
        <p:sp>
          <p:nvSpPr>
            <p:cNvPr id="336" name="Google Shape;336;p23"/>
            <p:cNvSpPr/>
            <p:nvPr/>
          </p:nvSpPr>
          <p:spPr>
            <a:xfrm>
              <a:off x="347150" y="42143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3"/>
            <p:cNvSpPr/>
            <p:nvPr/>
          </p:nvSpPr>
          <p:spPr>
            <a:xfrm>
              <a:off x="8208625" y="4388225"/>
              <a:ext cx="440400" cy="440400"/>
            </a:xfrm>
            <a:prstGeom prst="star4">
              <a:avLst>
                <a:gd name="adj" fmla="val 725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3"/>
            <p:cNvSpPr/>
            <p:nvPr/>
          </p:nvSpPr>
          <p:spPr>
            <a:xfrm>
              <a:off x="7877000" y="46470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23"/>
          <p:cNvGrpSpPr/>
          <p:nvPr/>
        </p:nvGrpSpPr>
        <p:grpSpPr>
          <a:xfrm>
            <a:off x="7606066" y="451648"/>
            <a:ext cx="2993464" cy="2993464"/>
            <a:chOff x="4813700" y="-1616200"/>
            <a:chExt cx="4079400" cy="4079400"/>
          </a:xfrm>
        </p:grpSpPr>
        <p:sp>
          <p:nvSpPr>
            <p:cNvPr id="340" name="Google Shape;340;p23"/>
            <p:cNvSpPr/>
            <p:nvPr/>
          </p:nvSpPr>
          <p:spPr>
            <a:xfrm>
              <a:off x="4813700" y="-1616200"/>
              <a:ext cx="4079400" cy="407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1" name="Google Shape;341;p23"/>
            <p:cNvSpPr/>
            <p:nvPr/>
          </p:nvSpPr>
          <p:spPr>
            <a:xfrm>
              <a:off x="4813700" y="-1063300"/>
              <a:ext cx="4079400" cy="2973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2" name="Google Shape;342;p23"/>
            <p:cNvSpPr/>
            <p:nvPr/>
          </p:nvSpPr>
          <p:spPr>
            <a:xfrm>
              <a:off x="4813700" y="-514750"/>
              <a:ext cx="4079400" cy="1876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3" name="Google Shape;343;p23"/>
            <p:cNvSpPr/>
            <p:nvPr/>
          </p:nvSpPr>
          <p:spPr>
            <a:xfrm>
              <a:off x="4813700" y="-24700"/>
              <a:ext cx="4079400" cy="89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4" name="Google Shape;344;p23"/>
            <p:cNvSpPr/>
            <p:nvPr/>
          </p:nvSpPr>
          <p:spPr>
            <a:xfrm rot="5400000">
              <a:off x="4813700" y="-1192300"/>
              <a:ext cx="4079400" cy="323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5" name="Google Shape;345;p23"/>
            <p:cNvSpPr/>
            <p:nvPr/>
          </p:nvSpPr>
          <p:spPr>
            <a:xfrm rot="5400000">
              <a:off x="4813643" y="-596200"/>
              <a:ext cx="4079400" cy="203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6" name="Google Shape;346;p23"/>
            <p:cNvSpPr/>
            <p:nvPr/>
          </p:nvSpPr>
          <p:spPr>
            <a:xfrm rot="5400000">
              <a:off x="4813563" y="-63700"/>
              <a:ext cx="4079400" cy="97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47"/>
        <p:cNvGrpSpPr/>
        <p:nvPr/>
      </p:nvGrpSpPr>
      <p:grpSpPr>
        <a:xfrm>
          <a:off x="0" y="0"/>
          <a:ext cx="0" cy="0"/>
          <a:chOff x="0" y="0"/>
          <a:chExt cx="0" cy="0"/>
        </a:xfrm>
      </p:grpSpPr>
      <p:pic>
        <p:nvPicPr>
          <p:cNvPr id="348" name="Google Shape;348;p24"/>
          <p:cNvPicPr preferRelativeResize="0"/>
          <p:nvPr/>
        </p:nvPicPr>
        <p:blipFill>
          <a:blip r:embed="rId2">
            <a:alphaModFix amt="60000"/>
          </a:blip>
          <a:stretch>
            <a:fillRect/>
          </a:stretch>
        </p:blipFill>
        <p:spPr>
          <a:xfrm flipH="1">
            <a:off x="1852" y="0"/>
            <a:ext cx="9140300" cy="5143501"/>
          </a:xfrm>
          <a:prstGeom prst="rect">
            <a:avLst/>
          </a:prstGeom>
          <a:noFill/>
          <a:ln>
            <a:noFill/>
          </a:ln>
        </p:spPr>
      </p:pic>
      <p:pic>
        <p:nvPicPr>
          <p:cNvPr id="349" name="Google Shape;349;p24"/>
          <p:cNvPicPr preferRelativeResize="0"/>
          <p:nvPr/>
        </p:nvPicPr>
        <p:blipFill>
          <a:blip r:embed="rId3">
            <a:alphaModFix/>
          </a:blip>
          <a:stretch>
            <a:fillRect/>
          </a:stretch>
        </p:blipFill>
        <p:spPr>
          <a:xfrm>
            <a:off x="-129850" y="-2136500"/>
            <a:ext cx="3735552" cy="3409051"/>
          </a:xfrm>
          <a:prstGeom prst="rect">
            <a:avLst/>
          </a:prstGeom>
          <a:noFill/>
          <a:ln>
            <a:noFill/>
          </a:ln>
        </p:spPr>
      </p:pic>
      <p:grpSp>
        <p:nvGrpSpPr>
          <p:cNvPr id="350" name="Google Shape;350;p24"/>
          <p:cNvGrpSpPr/>
          <p:nvPr/>
        </p:nvGrpSpPr>
        <p:grpSpPr>
          <a:xfrm rot="10800000">
            <a:off x="188994" y="547012"/>
            <a:ext cx="8580575" cy="2858800"/>
            <a:chOff x="347150" y="1634200"/>
            <a:chExt cx="8580575" cy="2858800"/>
          </a:xfrm>
        </p:grpSpPr>
        <p:sp>
          <p:nvSpPr>
            <p:cNvPr id="351" name="Google Shape;351;p24"/>
            <p:cNvSpPr/>
            <p:nvPr/>
          </p:nvSpPr>
          <p:spPr>
            <a:xfrm>
              <a:off x="347150" y="42143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4"/>
            <p:cNvSpPr/>
            <p:nvPr/>
          </p:nvSpPr>
          <p:spPr>
            <a:xfrm>
              <a:off x="8649025" y="1634200"/>
              <a:ext cx="278700" cy="278700"/>
            </a:xfrm>
            <a:prstGeom prst="star4">
              <a:avLst>
                <a:gd name="adj" fmla="val 332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24"/>
          <p:cNvGrpSpPr/>
          <p:nvPr/>
        </p:nvGrpSpPr>
        <p:grpSpPr>
          <a:xfrm>
            <a:off x="-1458435" y="3577670"/>
            <a:ext cx="10460865" cy="3040893"/>
            <a:chOff x="-1458435" y="3577670"/>
            <a:chExt cx="10460865" cy="3040893"/>
          </a:xfrm>
        </p:grpSpPr>
        <p:grpSp>
          <p:nvGrpSpPr>
            <p:cNvPr id="354" name="Google Shape;354;p24"/>
            <p:cNvGrpSpPr/>
            <p:nvPr/>
          </p:nvGrpSpPr>
          <p:grpSpPr>
            <a:xfrm rot="-5400000">
              <a:off x="8035924" y="3959194"/>
              <a:ext cx="1348030" cy="584982"/>
              <a:chOff x="407575" y="1938150"/>
              <a:chExt cx="2049300" cy="889300"/>
            </a:xfrm>
          </p:grpSpPr>
          <p:sp>
            <p:nvSpPr>
              <p:cNvPr id="355" name="Google Shape;355;p24"/>
              <p:cNvSpPr/>
              <p:nvPr/>
            </p:nvSpPr>
            <p:spPr>
              <a:xfrm>
                <a:off x="407575" y="24563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4"/>
              <p:cNvSpPr/>
              <p:nvPr/>
            </p:nvSpPr>
            <p:spPr>
              <a:xfrm>
                <a:off x="407575" y="22054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4"/>
              <p:cNvSpPr/>
              <p:nvPr/>
            </p:nvSpPr>
            <p:spPr>
              <a:xfrm>
                <a:off x="407575" y="1938150"/>
                <a:ext cx="2049300" cy="371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24"/>
            <p:cNvGrpSpPr/>
            <p:nvPr/>
          </p:nvGrpSpPr>
          <p:grpSpPr>
            <a:xfrm rot="10800000">
              <a:off x="-1458435" y="3625100"/>
              <a:ext cx="2993464" cy="2993464"/>
              <a:chOff x="4813700" y="-1616200"/>
              <a:chExt cx="4079400" cy="4079400"/>
            </a:xfrm>
          </p:grpSpPr>
          <p:sp>
            <p:nvSpPr>
              <p:cNvPr id="359" name="Google Shape;359;p24"/>
              <p:cNvSpPr/>
              <p:nvPr/>
            </p:nvSpPr>
            <p:spPr>
              <a:xfrm>
                <a:off x="4813700" y="-1616200"/>
                <a:ext cx="4079400" cy="407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0" name="Google Shape;360;p24"/>
              <p:cNvSpPr/>
              <p:nvPr/>
            </p:nvSpPr>
            <p:spPr>
              <a:xfrm>
                <a:off x="4813700" y="-1063300"/>
                <a:ext cx="4079400" cy="2973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1" name="Google Shape;361;p24"/>
              <p:cNvSpPr/>
              <p:nvPr/>
            </p:nvSpPr>
            <p:spPr>
              <a:xfrm>
                <a:off x="4813700" y="-514750"/>
                <a:ext cx="4079400" cy="1876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2" name="Google Shape;362;p24"/>
              <p:cNvSpPr/>
              <p:nvPr/>
            </p:nvSpPr>
            <p:spPr>
              <a:xfrm>
                <a:off x="4813700" y="-24700"/>
                <a:ext cx="4079400" cy="89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3" name="Google Shape;363;p24"/>
              <p:cNvSpPr/>
              <p:nvPr/>
            </p:nvSpPr>
            <p:spPr>
              <a:xfrm rot="5400000">
                <a:off x="4813700" y="-1192300"/>
                <a:ext cx="4079400" cy="323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4" name="Google Shape;364;p24"/>
              <p:cNvSpPr/>
              <p:nvPr/>
            </p:nvSpPr>
            <p:spPr>
              <a:xfrm rot="5400000">
                <a:off x="4813643" y="-596200"/>
                <a:ext cx="4079400" cy="2039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5" name="Google Shape;365;p24"/>
              <p:cNvSpPr/>
              <p:nvPr/>
            </p:nvSpPr>
            <p:spPr>
              <a:xfrm rot="5400000">
                <a:off x="4813563" y="-63700"/>
                <a:ext cx="4079400" cy="97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Kanit"/>
              <a:buNone/>
              <a:defRPr sz="3000" b="1">
                <a:solidFill>
                  <a:schemeClr val="dk1"/>
                </a:solidFill>
                <a:latin typeface="Kanit"/>
                <a:ea typeface="Kanit"/>
                <a:cs typeface="Kanit"/>
                <a:sym typeface="Kanit"/>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rtl="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8" r:id="rId4"/>
    <p:sldLayoutId id="2147483661" r:id="rId5"/>
    <p:sldLayoutId id="2147483669" r:id="rId6"/>
    <p:sldLayoutId id="214748367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6A98-FCDC-4E66-35EF-213E080A2356}"/>
              </a:ext>
            </a:extLst>
          </p:cNvPr>
          <p:cNvSpPr>
            <a:spLocks noGrp="1"/>
          </p:cNvSpPr>
          <p:nvPr>
            <p:ph type="ctrTitle"/>
          </p:nvPr>
        </p:nvSpPr>
        <p:spPr>
          <a:xfrm>
            <a:off x="1827015" y="438150"/>
            <a:ext cx="5489970" cy="2133600"/>
          </a:xfrm>
        </p:spPr>
        <p:txBody>
          <a:bodyPr/>
          <a:lstStyle/>
          <a:p>
            <a:pPr algn="ctr"/>
            <a:r>
              <a:rPr lang="en-US" u="sng" dirty="0">
                <a:latin typeface="Sans Serif Collection" panose="020B0502040504020204" pitchFamily="34" charset="0"/>
                <a:ea typeface="Sans Serif Collection" panose="020B0502040504020204" pitchFamily="34" charset="0"/>
                <a:cs typeface="Sans Serif Collection" panose="020B0502040504020204" pitchFamily="34" charset="0"/>
              </a:rPr>
              <a:t>AI &amp; CODING HACKATHON 2025</a:t>
            </a:r>
            <a:br>
              <a:rPr lang="en-IN" u="sng" dirty="0">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IN" dirty="0"/>
          </a:p>
        </p:txBody>
      </p:sp>
      <p:sp>
        <p:nvSpPr>
          <p:cNvPr id="5" name="TextBox 4">
            <a:extLst>
              <a:ext uri="{FF2B5EF4-FFF2-40B4-BE49-F238E27FC236}">
                <a16:creationId xmlns:a16="http://schemas.microsoft.com/office/drawing/2014/main" id="{8DD2E654-DF61-6C2B-0203-761A15FC01DB}"/>
              </a:ext>
            </a:extLst>
          </p:cNvPr>
          <p:cNvSpPr txBox="1"/>
          <p:nvPr/>
        </p:nvSpPr>
        <p:spPr>
          <a:xfrm>
            <a:off x="2929112" y="2192518"/>
            <a:ext cx="3496212" cy="430887"/>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sz="2200" u="sng" dirty="0">
                <a:solidFill>
                  <a:schemeClr val="accent1">
                    <a:lumMod val="60000"/>
                    <a:lumOff val="40000"/>
                  </a:schemeClr>
                </a:solidFill>
              </a:rPr>
              <a:t>Project Title: </a:t>
            </a:r>
            <a:r>
              <a:rPr lang="en-US" sz="2200" dirty="0">
                <a:solidFill>
                  <a:schemeClr val="accent1">
                    <a:lumMod val="60000"/>
                    <a:lumOff val="40000"/>
                  </a:schemeClr>
                </a:solidFill>
              </a:rPr>
              <a:t>Health Saathi</a:t>
            </a:r>
            <a:endParaRPr lang="en-IN" sz="2200" dirty="0">
              <a:solidFill>
                <a:schemeClr val="accent1">
                  <a:lumMod val="60000"/>
                  <a:lumOff val="40000"/>
                </a:schemeClr>
              </a:solidFill>
            </a:endParaRPr>
          </a:p>
        </p:txBody>
      </p:sp>
      <p:sp>
        <p:nvSpPr>
          <p:cNvPr id="6" name="Subtitle 5">
            <a:extLst>
              <a:ext uri="{FF2B5EF4-FFF2-40B4-BE49-F238E27FC236}">
                <a16:creationId xmlns:a16="http://schemas.microsoft.com/office/drawing/2014/main" id="{50B66A3E-EF09-C989-69B8-C130AA90BC09}"/>
              </a:ext>
            </a:extLst>
          </p:cNvPr>
          <p:cNvSpPr txBox="1">
            <a:spLocks noGrp="1"/>
          </p:cNvSpPr>
          <p:nvPr>
            <p:ph type="subTitle" idx="1"/>
          </p:nvPr>
        </p:nvSpPr>
        <p:spPr>
          <a:xfrm>
            <a:off x="2823892" y="2675061"/>
            <a:ext cx="3706653" cy="52319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sz="2200" u="sng" dirty="0">
                <a:solidFill>
                  <a:schemeClr val="accent1">
                    <a:lumMod val="60000"/>
                    <a:lumOff val="40000"/>
                  </a:schemeClr>
                </a:solidFill>
                <a:latin typeface="+mj-lt"/>
              </a:rPr>
              <a:t>Team Name </a:t>
            </a:r>
            <a:r>
              <a:rPr lang="en-US" sz="2200" dirty="0">
                <a:solidFill>
                  <a:schemeClr val="accent1">
                    <a:lumMod val="60000"/>
                    <a:lumOff val="40000"/>
                  </a:schemeClr>
                </a:solidFill>
                <a:latin typeface="+mj-lt"/>
              </a:rPr>
              <a:t>- Code Crew</a:t>
            </a:r>
            <a:endParaRPr lang="en-IN" sz="2200" dirty="0">
              <a:solidFill>
                <a:schemeClr val="accent1">
                  <a:lumMod val="60000"/>
                  <a:lumOff val="40000"/>
                </a:schemeClr>
              </a:solidFill>
              <a:latin typeface="+mj-lt"/>
            </a:endParaRPr>
          </a:p>
        </p:txBody>
      </p:sp>
      <p:sp>
        <p:nvSpPr>
          <p:cNvPr id="3" name="TextBox 2">
            <a:extLst>
              <a:ext uri="{FF2B5EF4-FFF2-40B4-BE49-F238E27FC236}">
                <a16:creationId xmlns:a16="http://schemas.microsoft.com/office/drawing/2014/main" id="{6DEC775D-FF73-6AD0-A2C8-0945F4C56A3C}"/>
              </a:ext>
            </a:extLst>
          </p:cNvPr>
          <p:cNvSpPr txBox="1"/>
          <p:nvPr/>
        </p:nvSpPr>
        <p:spPr>
          <a:xfrm rot="10800000" flipH="1" flipV="1">
            <a:off x="1703692" y="3419593"/>
            <a:ext cx="2029477" cy="1015663"/>
          </a:xfrm>
          <a:prstGeom prst="rect">
            <a:avLst/>
          </a:prstGeom>
          <a:noFill/>
        </p:spPr>
        <p:txBody>
          <a:bodyPr wrap="square" rtlCol="0">
            <a:spAutoFit/>
          </a:bodyPr>
          <a:lstStyle/>
          <a:p>
            <a:r>
              <a:rPr lang="en-US" sz="1600" b="1" u="sng" dirty="0">
                <a:solidFill>
                  <a:schemeClr val="tx2">
                    <a:lumMod val="60000"/>
                    <a:lumOff val="40000"/>
                  </a:schemeClr>
                </a:solidFill>
              </a:rPr>
              <a:t>TEAM LEADER:</a:t>
            </a:r>
          </a:p>
          <a:p>
            <a:endParaRPr lang="en-US" dirty="0">
              <a:solidFill>
                <a:schemeClr val="tx2">
                  <a:lumMod val="60000"/>
                  <a:lumOff val="40000"/>
                </a:schemeClr>
              </a:solidFill>
            </a:endParaRPr>
          </a:p>
          <a:p>
            <a:r>
              <a:rPr lang="en-US" sz="1600" b="1" u="sng" dirty="0">
                <a:solidFill>
                  <a:schemeClr val="tx2">
                    <a:lumMod val="60000"/>
                    <a:lumOff val="40000"/>
                  </a:schemeClr>
                </a:solidFill>
              </a:rPr>
              <a:t>TEAM MEMBERS</a:t>
            </a:r>
            <a:r>
              <a:rPr lang="en-US" sz="1600" dirty="0">
                <a:solidFill>
                  <a:schemeClr val="tx2">
                    <a:lumMod val="60000"/>
                    <a:lumOff val="40000"/>
                  </a:schemeClr>
                </a:solidFill>
              </a:rPr>
              <a:t>:</a:t>
            </a:r>
          </a:p>
          <a:p>
            <a:endParaRPr lang="en-US" dirty="0">
              <a:solidFill>
                <a:schemeClr val="tx2">
                  <a:lumMod val="60000"/>
                  <a:lumOff val="40000"/>
                </a:schemeClr>
              </a:solidFill>
            </a:endParaRPr>
          </a:p>
        </p:txBody>
      </p:sp>
      <p:sp>
        <p:nvSpPr>
          <p:cNvPr id="8" name="TextBox 7">
            <a:extLst>
              <a:ext uri="{FF2B5EF4-FFF2-40B4-BE49-F238E27FC236}">
                <a16:creationId xmlns:a16="http://schemas.microsoft.com/office/drawing/2014/main" id="{6146A564-CAA2-2B9C-798D-66CEA6D43931}"/>
              </a:ext>
            </a:extLst>
          </p:cNvPr>
          <p:cNvSpPr txBox="1"/>
          <p:nvPr/>
        </p:nvSpPr>
        <p:spPr>
          <a:xfrm rot="10800000" flipH="1" flipV="1">
            <a:off x="5276171" y="3413696"/>
            <a:ext cx="2768966" cy="338554"/>
          </a:xfrm>
          <a:prstGeom prst="rect">
            <a:avLst/>
          </a:prstGeom>
          <a:noFill/>
        </p:spPr>
        <p:txBody>
          <a:bodyPr wrap="square" rtlCol="0">
            <a:spAutoFit/>
          </a:bodyPr>
          <a:lstStyle/>
          <a:p>
            <a:r>
              <a:rPr lang="en-US" sz="1600" dirty="0">
                <a:solidFill>
                  <a:schemeClr val="tx1"/>
                </a:solidFill>
              </a:rPr>
              <a:t>Khushi Chauhan (BSc. Cs)</a:t>
            </a:r>
            <a:endParaRPr lang="en-IN" sz="1600" dirty="0">
              <a:solidFill>
                <a:schemeClr val="tx1"/>
              </a:solidFill>
            </a:endParaRPr>
          </a:p>
        </p:txBody>
      </p:sp>
      <p:sp>
        <p:nvSpPr>
          <p:cNvPr id="10" name="TextBox 9">
            <a:extLst>
              <a:ext uri="{FF2B5EF4-FFF2-40B4-BE49-F238E27FC236}">
                <a16:creationId xmlns:a16="http://schemas.microsoft.com/office/drawing/2014/main" id="{5FD1A55E-38D4-3AD2-E8E8-C922068A1087}"/>
              </a:ext>
            </a:extLst>
          </p:cNvPr>
          <p:cNvSpPr txBox="1"/>
          <p:nvPr/>
        </p:nvSpPr>
        <p:spPr>
          <a:xfrm>
            <a:off x="5276171" y="3836099"/>
            <a:ext cx="2667630" cy="1077218"/>
          </a:xfrm>
          <a:prstGeom prst="rect">
            <a:avLst/>
          </a:prstGeom>
          <a:noFill/>
        </p:spPr>
        <p:txBody>
          <a:bodyPr wrap="square" rtlCol="0">
            <a:spAutoFit/>
          </a:bodyPr>
          <a:lstStyle/>
          <a:p>
            <a:r>
              <a:rPr lang="en-US" sz="1600" dirty="0">
                <a:solidFill>
                  <a:schemeClr val="tx1"/>
                </a:solidFill>
              </a:rPr>
              <a:t>Khushi Chauhan (BSc. Cs)</a:t>
            </a:r>
          </a:p>
          <a:p>
            <a:r>
              <a:rPr lang="en-US" sz="1600" dirty="0">
                <a:solidFill>
                  <a:schemeClr val="tx1"/>
                </a:solidFill>
              </a:rPr>
              <a:t>Sunidhi Raturi (BSc. Cs)</a:t>
            </a:r>
          </a:p>
          <a:p>
            <a:r>
              <a:rPr lang="en-US" sz="1600" dirty="0">
                <a:solidFill>
                  <a:schemeClr val="tx1"/>
                </a:solidFill>
              </a:rPr>
              <a:t>Shagun Kumari (BTech Cs)</a:t>
            </a:r>
          </a:p>
          <a:p>
            <a:r>
              <a:rPr lang="en-US" sz="1600" dirty="0">
                <a:solidFill>
                  <a:schemeClr val="tx1"/>
                </a:solidFill>
              </a:rPr>
              <a:t>Kajal Rawat (BSc. Cs)</a:t>
            </a:r>
            <a:endParaRPr lang="en-IN" sz="1600" dirty="0">
              <a:solidFill>
                <a:schemeClr val="tx1"/>
              </a:solidFill>
            </a:endParaRPr>
          </a:p>
        </p:txBody>
      </p:sp>
      <p:sp>
        <p:nvSpPr>
          <p:cNvPr id="4" name="TextBox 3">
            <a:extLst>
              <a:ext uri="{FF2B5EF4-FFF2-40B4-BE49-F238E27FC236}">
                <a16:creationId xmlns:a16="http://schemas.microsoft.com/office/drawing/2014/main" id="{52C275AF-DA2A-2040-7B64-DB50F63F2C17}"/>
              </a:ext>
            </a:extLst>
          </p:cNvPr>
          <p:cNvSpPr txBox="1"/>
          <p:nvPr/>
        </p:nvSpPr>
        <p:spPr>
          <a:xfrm>
            <a:off x="3619815" y="1801899"/>
            <a:ext cx="2100853" cy="338554"/>
          </a:xfrm>
          <a:prstGeom prst="rect">
            <a:avLst/>
          </a:prstGeom>
          <a:noFill/>
        </p:spPr>
        <p:txBody>
          <a:bodyPr wrap="square" rtlCol="0">
            <a:spAutoFit/>
          </a:bodyPr>
          <a:lstStyle/>
          <a:p>
            <a:r>
              <a:rPr lang="en-US" sz="1600" b="1" dirty="0">
                <a:solidFill>
                  <a:schemeClr val="accent1">
                    <a:lumMod val="60000"/>
                    <a:lumOff val="40000"/>
                  </a:schemeClr>
                </a:solidFill>
              </a:rPr>
              <a:t>AI IN HEALTHCARE</a:t>
            </a:r>
            <a:endParaRPr lang="en-IN" sz="1600" b="1" dirty="0">
              <a:solidFill>
                <a:schemeClr val="accent1">
                  <a:lumMod val="60000"/>
                  <a:lumOff val="40000"/>
                </a:schemeClr>
              </a:solidFill>
            </a:endParaRPr>
          </a:p>
        </p:txBody>
      </p:sp>
    </p:spTree>
    <p:extLst>
      <p:ext uri="{BB962C8B-B14F-4D97-AF65-F5344CB8AC3E}">
        <p14:creationId xmlns:p14="http://schemas.microsoft.com/office/powerpoint/2010/main" val="6863368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B78B991-E686-ABCC-0389-9F9F41F72642}"/>
              </a:ext>
            </a:extLst>
          </p:cNvPr>
          <p:cNvSpPr>
            <a:spLocks noGrp="1"/>
          </p:cNvSpPr>
          <p:nvPr>
            <p:ph type="subTitle" idx="1"/>
          </p:nvPr>
        </p:nvSpPr>
        <p:spPr>
          <a:xfrm>
            <a:off x="720000" y="753093"/>
            <a:ext cx="7704000" cy="4060988"/>
          </a:xfrm>
        </p:spPr>
        <p:txBody>
          <a:bodyPr/>
          <a:lstStyle/>
          <a:p>
            <a:pPr marL="152400" indent="0" algn="ctr">
              <a:buNone/>
            </a:pPr>
            <a:r>
              <a:rPr lang="en-US" sz="2600" b="1" u="sng" dirty="0">
                <a:solidFill>
                  <a:srgbClr val="FFFF00"/>
                </a:solidFill>
              </a:rPr>
              <a:t>AI in Healthcare</a:t>
            </a:r>
          </a:p>
          <a:p>
            <a:pPr marL="152400" indent="0">
              <a:buNone/>
            </a:pPr>
            <a:endParaRPr lang="en-IN" dirty="0"/>
          </a:p>
          <a:p>
            <a:pPr marL="152400" indent="0">
              <a:buNone/>
            </a:pPr>
            <a:r>
              <a:rPr lang="en-US" sz="1600" dirty="0"/>
              <a:t>Leveraging AI to improve healthcare access and awareness by bridging the information gap in rural and semi-urban areas through early diagnosis and personalized health education.</a:t>
            </a:r>
          </a:p>
          <a:p>
            <a:pPr marL="152400" indent="0" algn="ctr">
              <a:buNone/>
            </a:pPr>
            <a:endParaRPr lang="en-US" sz="1600" u="sng" dirty="0"/>
          </a:p>
          <a:p>
            <a:pPr marL="152400" indent="0" algn="ctr">
              <a:buNone/>
            </a:pPr>
            <a:r>
              <a:rPr lang="en-US" sz="2000" b="1" u="sng" dirty="0">
                <a:solidFill>
                  <a:srgbClr val="FFFF00"/>
                </a:solidFill>
                <a:latin typeface="Kanit" panose="020B0604020202020204" charset="-34"/>
                <a:cs typeface="Kanit" panose="020B0604020202020204" charset="-34"/>
              </a:rPr>
              <a:t>Problem Statement :</a:t>
            </a:r>
          </a:p>
          <a:p>
            <a:pPr marL="152400" indent="0" algn="ctr">
              <a:buNone/>
            </a:pPr>
            <a:r>
              <a:rPr lang="en-US" sz="2000" b="1" dirty="0">
                <a:solidFill>
                  <a:schemeClr val="accent1">
                    <a:lumMod val="60000"/>
                    <a:lumOff val="40000"/>
                  </a:schemeClr>
                </a:solidFill>
              </a:rPr>
              <a:t>AI-Driven Public Health Chatbot for Disease Awareness</a:t>
            </a:r>
          </a:p>
          <a:p>
            <a:pPr marL="152400" indent="0">
              <a:buNone/>
            </a:pPr>
            <a:endParaRPr lang="en-US" sz="2000" u="sng" dirty="0">
              <a:solidFill>
                <a:schemeClr val="tx1"/>
              </a:solidFill>
              <a:latin typeface="Cooper Black" panose="0208090404030B020404" pitchFamily="18" charset="0"/>
            </a:endParaRPr>
          </a:p>
          <a:p>
            <a:pPr marL="152400" indent="0">
              <a:buNone/>
            </a:pPr>
            <a:r>
              <a:rPr lang="en-US" sz="1600" dirty="0"/>
              <a:t>In India’s rural and semi-urban regions, people face significant barriers in accessing verified healthcare information. Limited internet access, and low health literacy often lead to misinformation about disease prevention, vaccination schedules, and outbreak updates. There is an urgent need for an AI-based solution that delivers trusted, multilingual, and easily accessible healthcare education through familiar communication platforms like Web-based.</a:t>
            </a:r>
            <a:endParaRPr lang="en-IN" sz="1600" dirty="0"/>
          </a:p>
          <a:p>
            <a:pPr marL="152400" indent="0">
              <a:buNone/>
            </a:pPr>
            <a:endParaRPr lang="en-US" sz="2000" u="sng" dirty="0">
              <a:latin typeface="Cooper Black" panose="0208090404030B020404" pitchFamily="18" charset="0"/>
            </a:endParaRPr>
          </a:p>
          <a:p>
            <a:pPr marL="152400" indent="0">
              <a:buNone/>
            </a:pPr>
            <a:endParaRPr lang="en-US" sz="2000" u="sng" dirty="0">
              <a:latin typeface="Cooper Black" panose="0208090404030B020404" pitchFamily="18" charset="0"/>
            </a:endParaRPr>
          </a:p>
          <a:p>
            <a:pPr marL="152400" indent="0">
              <a:buNone/>
            </a:pPr>
            <a:endParaRPr lang="en-IN" dirty="0"/>
          </a:p>
        </p:txBody>
      </p:sp>
      <p:sp>
        <p:nvSpPr>
          <p:cNvPr id="4" name="Title 1">
            <a:extLst>
              <a:ext uri="{FF2B5EF4-FFF2-40B4-BE49-F238E27FC236}">
                <a16:creationId xmlns:a16="http://schemas.microsoft.com/office/drawing/2014/main" id="{42E9CA12-5E22-2DFE-C52E-9BE6A4E1186E}"/>
              </a:ext>
            </a:extLst>
          </p:cNvPr>
          <p:cNvSpPr>
            <a:spLocks noGrp="1"/>
          </p:cNvSpPr>
          <p:nvPr>
            <p:ph type="title"/>
          </p:nvPr>
        </p:nvSpPr>
        <p:spPr>
          <a:xfrm>
            <a:off x="720000" y="180005"/>
            <a:ext cx="7702550" cy="573088"/>
          </a:xfrm>
        </p:spPr>
        <p:txBody>
          <a:bodyPr>
            <a:noAutofit/>
          </a:bodyPr>
          <a:lstStyle/>
          <a:p>
            <a:pPr algn="ctr"/>
            <a:r>
              <a:rPr lang="en-US" sz="3200" b="1" u="sng" dirty="0"/>
              <a:t>PROJECT THEME</a:t>
            </a:r>
            <a:endParaRPr lang="en-IN" sz="3200" dirty="0"/>
          </a:p>
        </p:txBody>
      </p:sp>
    </p:spTree>
    <p:extLst>
      <p:ext uri="{BB962C8B-B14F-4D97-AF65-F5344CB8AC3E}">
        <p14:creationId xmlns:p14="http://schemas.microsoft.com/office/powerpoint/2010/main" val="3901565996"/>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2063E7F-CCA0-9B8A-B247-3B2F058BDAAA}"/>
              </a:ext>
            </a:extLst>
          </p:cNvPr>
          <p:cNvSpPr>
            <a:spLocks noGrp="1"/>
          </p:cNvSpPr>
          <p:nvPr>
            <p:ph type="subTitle" idx="1"/>
          </p:nvPr>
        </p:nvSpPr>
        <p:spPr/>
        <p:txBody>
          <a:bodyPr/>
          <a:lstStyle/>
          <a:p>
            <a:r>
              <a:rPr lang="en-US" sz="1600" dirty="0">
                <a:solidFill>
                  <a:schemeClr val="accent1">
                    <a:lumMod val="60000"/>
                    <a:lumOff val="40000"/>
                  </a:schemeClr>
                </a:solidFill>
              </a:rPr>
              <a:t>We propose the development of an AI-powered multilingual public health chatbot that acts as a virtual health assistant for citizens. The chatbot uses Natural Language Processing (NLP) to understand user queries and provides verified information about disease symptoms, preventive measures, and vaccination schedules.</a:t>
            </a:r>
          </a:p>
          <a:p>
            <a:endParaRPr lang="en-US" sz="1600" dirty="0">
              <a:solidFill>
                <a:schemeClr val="accent1">
                  <a:lumMod val="60000"/>
                  <a:lumOff val="40000"/>
                </a:schemeClr>
              </a:solidFill>
            </a:endParaRPr>
          </a:p>
          <a:p>
            <a:endParaRPr lang="en-IN" sz="1600" dirty="0">
              <a:solidFill>
                <a:schemeClr val="accent1">
                  <a:lumMod val="60000"/>
                  <a:lumOff val="40000"/>
                </a:schemeClr>
              </a:solidFill>
            </a:endParaRPr>
          </a:p>
          <a:p>
            <a:r>
              <a:rPr lang="en-US" sz="1600" dirty="0">
                <a:solidFill>
                  <a:schemeClr val="accent1">
                    <a:lumMod val="60000"/>
                    <a:lumOff val="40000"/>
                  </a:schemeClr>
                </a:solidFill>
              </a:rPr>
              <a:t>The system integrates with government and WHO datasets to deliver real-time outbreak alerts and health updates. Designed for accessibility, its user-friendly interface, makes it easier for rural and semi urban’s people. The chatbot aims to achieve over 80% accuracy in health responses and improve health awareness by 20% or more in the target user base.</a:t>
            </a:r>
            <a:endParaRPr lang="en-IN" sz="1600" dirty="0">
              <a:solidFill>
                <a:schemeClr val="accent1">
                  <a:lumMod val="60000"/>
                  <a:lumOff val="40000"/>
                </a:schemeClr>
              </a:solidFill>
            </a:endParaRPr>
          </a:p>
          <a:p>
            <a:endParaRPr lang="en-IN" dirty="0"/>
          </a:p>
        </p:txBody>
      </p:sp>
      <p:sp>
        <p:nvSpPr>
          <p:cNvPr id="3" name="Title 2">
            <a:extLst>
              <a:ext uri="{FF2B5EF4-FFF2-40B4-BE49-F238E27FC236}">
                <a16:creationId xmlns:a16="http://schemas.microsoft.com/office/drawing/2014/main" id="{503774C1-2F48-714C-E8BF-63FF126B03B8}"/>
              </a:ext>
            </a:extLst>
          </p:cNvPr>
          <p:cNvSpPr>
            <a:spLocks noGrp="1"/>
          </p:cNvSpPr>
          <p:nvPr>
            <p:ph type="title"/>
          </p:nvPr>
        </p:nvSpPr>
        <p:spPr/>
        <p:txBody>
          <a:bodyPr/>
          <a:lstStyle/>
          <a:p>
            <a:r>
              <a:rPr lang="en-US" sz="3200" u="sng" dirty="0"/>
              <a:t>IDEA SUMMARY</a:t>
            </a:r>
            <a:endParaRPr lang="en-IN" dirty="0"/>
          </a:p>
        </p:txBody>
      </p:sp>
      <p:sp>
        <p:nvSpPr>
          <p:cNvPr id="9" name="AutoShape 2">
            <a:extLst>
              <a:ext uri="{FF2B5EF4-FFF2-40B4-BE49-F238E27FC236}">
                <a16:creationId xmlns:a16="http://schemas.microsoft.com/office/drawing/2014/main" id="{04166BCF-B8F5-373A-8D54-76A070F994BC}"/>
              </a:ext>
            </a:extLst>
          </p:cNvPr>
          <p:cNvSpPr>
            <a:spLocks noChangeAspect="1" noChangeArrowheads="1"/>
          </p:cNvSpPr>
          <p:nvPr/>
        </p:nvSpPr>
        <p:spPr bwMode="auto">
          <a:xfrm>
            <a:off x="4419600" y="2419349"/>
            <a:ext cx="1958340" cy="15116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a:extLst>
              <a:ext uri="{FF2B5EF4-FFF2-40B4-BE49-F238E27FC236}">
                <a16:creationId xmlns:a16="http://schemas.microsoft.com/office/drawing/2014/main" id="{5FEE7634-47C5-F638-E07C-7853959B24E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9785816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23958F0-577B-680E-8262-BEEA86219EA1}"/>
              </a:ext>
            </a:extLst>
          </p:cNvPr>
          <p:cNvSpPr>
            <a:spLocks noGrp="1"/>
          </p:cNvSpPr>
          <p:nvPr>
            <p:ph type="subTitle" idx="1"/>
          </p:nvPr>
        </p:nvSpPr>
        <p:spPr>
          <a:xfrm>
            <a:off x="720000" y="1592579"/>
            <a:ext cx="7704000" cy="3105895"/>
          </a:xfrm>
        </p:spPr>
        <p:txBody>
          <a:bodyPr/>
          <a:lstStyle/>
          <a:p>
            <a:r>
              <a:rPr lang="en-US" sz="2000" b="1" u="sng" dirty="0">
                <a:solidFill>
                  <a:srgbClr val="FFFF00"/>
                </a:solidFill>
              </a:rPr>
              <a:t>System Overview: </a:t>
            </a:r>
          </a:p>
          <a:p>
            <a:pPr marL="152400" indent="0">
              <a:buNone/>
            </a:pPr>
            <a:endParaRPr lang="en-US" sz="2000" b="1" u="sng" dirty="0">
              <a:solidFill>
                <a:schemeClr val="accent1">
                  <a:lumMod val="75000"/>
                </a:schemeClr>
              </a:solidFill>
            </a:endParaRPr>
          </a:p>
          <a:p>
            <a:pPr marL="0" indent="0">
              <a:buNone/>
            </a:pPr>
            <a:r>
              <a:rPr lang="en-US" sz="1600" dirty="0"/>
              <a:t>The proposed solution is a modular AI system consisting of a frontend chatbot interface, an AI-based backend engine, and a cloud-hosted database for scalability.</a:t>
            </a:r>
          </a:p>
          <a:p>
            <a:pPr marL="152400" indent="0">
              <a:buNone/>
            </a:pPr>
            <a:endParaRPr lang="en-IN" sz="1600" dirty="0"/>
          </a:p>
          <a:p>
            <a:pPr marL="0" indent="0">
              <a:buNone/>
            </a:pPr>
            <a:r>
              <a:rPr lang="en-US" sz="1600" u="sng" dirty="0">
                <a:solidFill>
                  <a:schemeClr val="tx1"/>
                </a:solidFill>
              </a:rPr>
              <a:t>System Diagram:</a:t>
            </a:r>
          </a:p>
          <a:p>
            <a:pPr marL="0" indent="0">
              <a:buNone/>
            </a:pPr>
            <a:endParaRPr lang="en-US" sz="1600" u="sng" dirty="0"/>
          </a:p>
          <a:p>
            <a:pPr marL="0" indent="0">
              <a:buNone/>
            </a:pPr>
            <a:r>
              <a:rPr lang="en-IN" sz="1600" dirty="0">
                <a:solidFill>
                  <a:schemeClr val="tx2">
                    <a:lumMod val="40000"/>
                    <a:lumOff val="60000"/>
                  </a:schemeClr>
                </a:solidFill>
              </a:rPr>
              <a:t>User → Web → NLP Engine → Database/API → Reply</a:t>
            </a:r>
            <a:endParaRPr lang="en-US" sz="1600" dirty="0">
              <a:solidFill>
                <a:schemeClr val="tx2">
                  <a:lumMod val="40000"/>
                  <a:lumOff val="60000"/>
                </a:schemeClr>
              </a:solidFill>
            </a:endParaRPr>
          </a:p>
          <a:p>
            <a:pPr marL="152400" indent="0">
              <a:buNone/>
            </a:pPr>
            <a:endParaRPr lang="en-IN" dirty="0"/>
          </a:p>
        </p:txBody>
      </p:sp>
      <p:sp>
        <p:nvSpPr>
          <p:cNvPr id="3" name="Title 2">
            <a:extLst>
              <a:ext uri="{FF2B5EF4-FFF2-40B4-BE49-F238E27FC236}">
                <a16:creationId xmlns:a16="http://schemas.microsoft.com/office/drawing/2014/main" id="{265F950B-602F-6FFF-5DA1-76E36296680F}"/>
              </a:ext>
            </a:extLst>
          </p:cNvPr>
          <p:cNvSpPr>
            <a:spLocks noGrp="1"/>
          </p:cNvSpPr>
          <p:nvPr>
            <p:ph type="title"/>
          </p:nvPr>
        </p:nvSpPr>
        <p:spPr>
          <a:xfrm>
            <a:off x="720000" y="445025"/>
            <a:ext cx="7704000" cy="1053576"/>
          </a:xfrm>
        </p:spPr>
        <p:txBody>
          <a:bodyPr/>
          <a:lstStyle/>
          <a:p>
            <a:r>
              <a:rPr lang="en-US" sz="2800" u="sng" dirty="0"/>
              <a:t>PROPOSED SOLUTION (WITH HARDWARE &amp; SOFTWARE CONFIGURATION)</a:t>
            </a:r>
            <a:endParaRPr lang="en-IN" sz="2800" dirty="0"/>
          </a:p>
        </p:txBody>
      </p:sp>
      <p:pic>
        <p:nvPicPr>
          <p:cNvPr id="4" name="Google Shape;741;p54">
            <a:extLst>
              <a:ext uri="{FF2B5EF4-FFF2-40B4-BE49-F238E27FC236}">
                <a16:creationId xmlns:a16="http://schemas.microsoft.com/office/drawing/2014/main" id="{DBE19534-02EF-309F-00C2-D9AEA7F0DE4E}"/>
              </a:ext>
            </a:extLst>
          </p:cNvPr>
          <p:cNvPicPr preferRelativeResize="0"/>
          <p:nvPr/>
        </p:nvPicPr>
        <p:blipFill rotWithShape="1">
          <a:blip r:embed="rId2">
            <a:alphaModFix/>
          </a:blip>
          <a:srcRect/>
          <a:stretch/>
        </p:blipFill>
        <p:spPr>
          <a:xfrm>
            <a:off x="7580815" y="3644900"/>
            <a:ext cx="1270420" cy="1270435"/>
          </a:xfrm>
          <a:prstGeom prst="rect">
            <a:avLst/>
          </a:prstGeom>
          <a:noFill/>
          <a:ln>
            <a:noFill/>
          </a:ln>
        </p:spPr>
      </p:pic>
    </p:spTree>
    <p:extLst>
      <p:ext uri="{BB962C8B-B14F-4D97-AF65-F5344CB8AC3E}">
        <p14:creationId xmlns:p14="http://schemas.microsoft.com/office/powerpoint/2010/main" val="39492120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6645739-2103-F51B-B743-2C38786EDCD2}"/>
              </a:ext>
            </a:extLst>
          </p:cNvPr>
          <p:cNvSpPr>
            <a:spLocks noGrp="1"/>
          </p:cNvSpPr>
          <p:nvPr>
            <p:ph type="subTitle" idx="1"/>
          </p:nvPr>
        </p:nvSpPr>
        <p:spPr>
          <a:xfrm>
            <a:off x="720000" y="482600"/>
            <a:ext cx="7704000" cy="4125925"/>
          </a:xfrm>
        </p:spPr>
        <p:txBody>
          <a:bodyPr/>
          <a:lstStyle/>
          <a:p>
            <a:r>
              <a:rPr lang="en-IN" sz="1800" b="1" u="sng" dirty="0">
                <a:solidFill>
                  <a:schemeClr val="accent1">
                    <a:lumMod val="75000"/>
                  </a:schemeClr>
                </a:solidFill>
              </a:rPr>
              <a:t>Software Configuration:</a:t>
            </a:r>
          </a:p>
          <a:p>
            <a:endParaRPr lang="en-IN" dirty="0"/>
          </a:p>
        </p:txBody>
      </p:sp>
      <p:graphicFrame>
        <p:nvGraphicFramePr>
          <p:cNvPr id="5" name="Table 4">
            <a:extLst>
              <a:ext uri="{FF2B5EF4-FFF2-40B4-BE49-F238E27FC236}">
                <a16:creationId xmlns:a16="http://schemas.microsoft.com/office/drawing/2014/main" id="{01B973D7-3E81-A972-4376-BBF9D407D48C}"/>
              </a:ext>
            </a:extLst>
          </p:cNvPr>
          <p:cNvGraphicFramePr>
            <a:graphicFrameLocks noGrp="1"/>
          </p:cNvGraphicFramePr>
          <p:nvPr>
            <p:extLst>
              <p:ext uri="{D42A27DB-BD31-4B8C-83A1-F6EECF244321}">
                <p14:modId xmlns:p14="http://schemas.microsoft.com/office/powerpoint/2010/main" val="3901144155"/>
              </p:ext>
            </p:extLst>
          </p:nvPr>
        </p:nvGraphicFramePr>
        <p:xfrm>
          <a:off x="1524000" y="1148752"/>
          <a:ext cx="6096000" cy="3459773"/>
        </p:xfrm>
        <a:graphic>
          <a:graphicData uri="http://schemas.openxmlformats.org/drawingml/2006/table">
            <a:tbl>
              <a:tblPr firstRow="1" bandRow="1">
                <a:tableStyleId>{18603FDC-E32A-4AB5-989C-0864C3EAD2B8}</a:tableStyleId>
              </a:tblPr>
              <a:tblGrid>
                <a:gridCol w="2032000">
                  <a:extLst>
                    <a:ext uri="{9D8B030D-6E8A-4147-A177-3AD203B41FA5}">
                      <a16:colId xmlns:a16="http://schemas.microsoft.com/office/drawing/2014/main" val="3293954700"/>
                    </a:ext>
                  </a:extLst>
                </a:gridCol>
                <a:gridCol w="2032000">
                  <a:extLst>
                    <a:ext uri="{9D8B030D-6E8A-4147-A177-3AD203B41FA5}">
                      <a16:colId xmlns:a16="http://schemas.microsoft.com/office/drawing/2014/main" val="525206006"/>
                    </a:ext>
                  </a:extLst>
                </a:gridCol>
                <a:gridCol w="2032000">
                  <a:extLst>
                    <a:ext uri="{9D8B030D-6E8A-4147-A177-3AD203B41FA5}">
                      <a16:colId xmlns:a16="http://schemas.microsoft.com/office/drawing/2014/main" val="1200158612"/>
                    </a:ext>
                  </a:extLst>
                </a:gridCol>
              </a:tblGrid>
              <a:tr h="350813">
                <a:tc>
                  <a:txBody>
                    <a:bodyPr/>
                    <a:lstStyle/>
                    <a:p>
                      <a:r>
                        <a:rPr lang="en-US" dirty="0"/>
                        <a:t>Component</a:t>
                      </a:r>
                      <a:endParaRPr lang="en-IN" dirty="0"/>
                    </a:p>
                  </a:txBody>
                  <a:tcPr/>
                </a:tc>
                <a:tc>
                  <a:txBody>
                    <a:bodyPr/>
                    <a:lstStyle/>
                    <a:p>
                      <a:r>
                        <a:rPr lang="en-US" dirty="0"/>
                        <a:t>Technology</a:t>
                      </a:r>
                      <a:endParaRPr lang="en-IN" dirty="0"/>
                    </a:p>
                  </a:txBody>
                  <a:tcPr/>
                </a:tc>
                <a:tc>
                  <a:txBody>
                    <a:bodyPr/>
                    <a:lstStyle/>
                    <a:p>
                      <a:r>
                        <a:rPr lang="en-US" dirty="0"/>
                        <a:t>Purpose</a:t>
                      </a:r>
                      <a:endParaRPr lang="en-IN" dirty="0"/>
                    </a:p>
                  </a:txBody>
                  <a:tcPr/>
                </a:tc>
                <a:extLst>
                  <a:ext uri="{0D108BD9-81ED-4DB2-BD59-A6C34878D82A}">
                    <a16:rowId xmlns:a16="http://schemas.microsoft.com/office/drawing/2014/main" val="2705076872"/>
                  </a:ext>
                </a:extLst>
              </a:tr>
              <a:tr h="370840">
                <a:tc>
                  <a:txBody>
                    <a:bodyPr/>
                    <a:lstStyle/>
                    <a:p>
                      <a:r>
                        <a:rPr lang="en-US" dirty="0"/>
                        <a:t>Backend</a:t>
                      </a:r>
                    </a:p>
                  </a:txBody>
                  <a:tcPr/>
                </a:tc>
                <a:tc>
                  <a:txBody>
                    <a:bodyPr/>
                    <a:lstStyle/>
                    <a:p>
                      <a:r>
                        <a:rPr lang="en-US" dirty="0"/>
                        <a:t>Python(Flask/</a:t>
                      </a:r>
                      <a:r>
                        <a:rPr lang="en-US" dirty="0" err="1"/>
                        <a:t>FastAPI</a:t>
                      </a:r>
                      <a:r>
                        <a:rPr lang="en-US" dirty="0"/>
                        <a:t>)</a:t>
                      </a:r>
                      <a:endParaRPr lang="en-IN" dirty="0"/>
                    </a:p>
                  </a:txBody>
                  <a:tcPr/>
                </a:tc>
                <a:tc>
                  <a:txBody>
                    <a:bodyPr/>
                    <a:lstStyle/>
                    <a:p>
                      <a:r>
                        <a:rPr lang="en-US" dirty="0"/>
                        <a:t>API development and chatbot logic</a:t>
                      </a:r>
                      <a:endParaRPr lang="en-IN" dirty="0"/>
                    </a:p>
                  </a:txBody>
                  <a:tcPr/>
                </a:tc>
                <a:extLst>
                  <a:ext uri="{0D108BD9-81ED-4DB2-BD59-A6C34878D82A}">
                    <a16:rowId xmlns:a16="http://schemas.microsoft.com/office/drawing/2014/main" val="4133646521"/>
                  </a:ext>
                </a:extLst>
              </a:tr>
              <a:tr h="370840">
                <a:tc>
                  <a:txBody>
                    <a:bodyPr/>
                    <a:lstStyle/>
                    <a:p>
                      <a:r>
                        <a:rPr lang="en-US" dirty="0"/>
                        <a:t>AI/NLP Model</a:t>
                      </a:r>
                      <a:endParaRPr lang="en-IN" dirty="0"/>
                    </a:p>
                  </a:txBody>
                  <a:tcPr/>
                </a:tc>
                <a:tc>
                  <a:txBody>
                    <a:bodyPr/>
                    <a:lstStyle/>
                    <a:p>
                      <a:r>
                        <a:rPr lang="en-US" dirty="0"/>
                        <a:t>Rule based + data driven NLP</a:t>
                      </a:r>
                      <a:endParaRPr lang="en-IN" dirty="0"/>
                    </a:p>
                  </a:txBody>
                  <a:tcPr/>
                </a:tc>
                <a:tc>
                  <a:txBody>
                    <a:bodyPr/>
                    <a:lstStyle/>
                    <a:p>
                      <a:r>
                        <a:rPr lang="en-US" dirty="0"/>
                        <a:t>Intent recognition and text</a:t>
                      </a:r>
                      <a:endParaRPr lang="en-IN" dirty="0"/>
                    </a:p>
                  </a:txBody>
                  <a:tcPr/>
                </a:tc>
                <a:extLst>
                  <a:ext uri="{0D108BD9-81ED-4DB2-BD59-A6C34878D82A}">
                    <a16:rowId xmlns:a16="http://schemas.microsoft.com/office/drawing/2014/main" val="3191860261"/>
                  </a:ext>
                </a:extLst>
              </a:tr>
              <a:tr h="370840">
                <a:tc>
                  <a:txBody>
                    <a:bodyPr/>
                    <a:lstStyle/>
                    <a:p>
                      <a:r>
                        <a:rPr lang="en-US" dirty="0"/>
                        <a:t>Database</a:t>
                      </a:r>
                      <a:endParaRPr lang="en-IN" dirty="0"/>
                    </a:p>
                  </a:txBody>
                  <a:tcPr/>
                </a:tc>
                <a:tc>
                  <a:txBody>
                    <a:bodyPr/>
                    <a:lstStyle/>
                    <a:p>
                      <a:r>
                        <a:rPr lang="en-US" dirty="0"/>
                        <a:t>MongoDB</a:t>
                      </a:r>
                      <a:endParaRPr lang="en-IN" dirty="0"/>
                    </a:p>
                  </a:txBody>
                  <a:tcPr/>
                </a:tc>
                <a:tc>
                  <a:txBody>
                    <a:bodyPr/>
                    <a:lstStyle/>
                    <a:p>
                      <a:r>
                        <a:rPr lang="en-US" dirty="0"/>
                        <a:t>Storage of FAQs, health data, and alerts</a:t>
                      </a:r>
                    </a:p>
                  </a:txBody>
                  <a:tcPr/>
                </a:tc>
                <a:extLst>
                  <a:ext uri="{0D108BD9-81ED-4DB2-BD59-A6C34878D82A}">
                    <a16:rowId xmlns:a16="http://schemas.microsoft.com/office/drawing/2014/main" val="1282033201"/>
                  </a:ext>
                </a:extLst>
              </a:tr>
              <a:tr h="370840">
                <a:tc>
                  <a:txBody>
                    <a:bodyPr/>
                    <a:lstStyle/>
                    <a:p>
                      <a:r>
                        <a:rPr lang="en-US" dirty="0"/>
                        <a:t>Frontend</a:t>
                      </a:r>
                      <a:endParaRPr lang="en-IN" dirty="0"/>
                    </a:p>
                  </a:txBody>
                  <a:tcPr/>
                </a:tc>
                <a:tc>
                  <a:txBody>
                    <a:bodyPr/>
                    <a:lstStyle/>
                    <a:p>
                      <a:r>
                        <a:rPr lang="en-US" dirty="0"/>
                        <a:t>Web-based API, Twilio</a:t>
                      </a:r>
                      <a:endParaRPr lang="en-IN" dirty="0"/>
                    </a:p>
                  </a:txBody>
                  <a:tcPr/>
                </a:tc>
                <a:tc>
                  <a:txBody>
                    <a:bodyPr/>
                    <a:lstStyle/>
                    <a:p>
                      <a:r>
                        <a:rPr lang="en-US" dirty="0"/>
                        <a:t>User communication interface</a:t>
                      </a:r>
                      <a:endParaRPr lang="en-IN" dirty="0"/>
                    </a:p>
                  </a:txBody>
                  <a:tcPr/>
                </a:tc>
                <a:extLst>
                  <a:ext uri="{0D108BD9-81ED-4DB2-BD59-A6C34878D82A}">
                    <a16:rowId xmlns:a16="http://schemas.microsoft.com/office/drawing/2014/main" val="1650607683"/>
                  </a:ext>
                </a:extLst>
              </a:tr>
              <a:tr h="370840">
                <a:tc>
                  <a:txBody>
                    <a:bodyPr/>
                    <a:lstStyle/>
                    <a:p>
                      <a:r>
                        <a:rPr lang="en-US" dirty="0"/>
                        <a:t>Cloud Hosting</a:t>
                      </a:r>
                      <a:endParaRPr lang="en-IN" dirty="0"/>
                    </a:p>
                  </a:txBody>
                  <a:tcPr/>
                </a:tc>
                <a:tc>
                  <a:txBody>
                    <a:bodyPr/>
                    <a:lstStyle/>
                    <a:p>
                      <a:r>
                        <a:rPr lang="en-US" dirty="0"/>
                        <a:t>AWS, Google Cloud</a:t>
                      </a:r>
                      <a:endParaRPr lang="en-IN" dirty="0"/>
                    </a:p>
                  </a:txBody>
                  <a:tcPr/>
                </a:tc>
                <a:tc>
                  <a:txBody>
                    <a:bodyPr/>
                    <a:lstStyle/>
                    <a:p>
                      <a:r>
                        <a:rPr lang="en-US" dirty="0"/>
                        <a:t>Hosting chatbot and database </a:t>
                      </a:r>
                      <a:endParaRPr lang="en-IN" dirty="0"/>
                    </a:p>
                  </a:txBody>
                  <a:tcPr/>
                </a:tc>
                <a:extLst>
                  <a:ext uri="{0D108BD9-81ED-4DB2-BD59-A6C34878D82A}">
                    <a16:rowId xmlns:a16="http://schemas.microsoft.com/office/drawing/2014/main" val="3635627339"/>
                  </a:ext>
                </a:extLst>
              </a:tr>
              <a:tr h="370840">
                <a:tc>
                  <a:txBody>
                    <a:bodyPr/>
                    <a:lstStyle/>
                    <a:p>
                      <a:r>
                        <a:rPr lang="en-US" dirty="0"/>
                        <a:t>Language</a:t>
                      </a:r>
                      <a:endParaRPr lang="en-IN" dirty="0"/>
                    </a:p>
                  </a:txBody>
                  <a:tcPr/>
                </a:tc>
                <a:tc>
                  <a:txBody>
                    <a:bodyPr/>
                    <a:lstStyle/>
                    <a:p>
                      <a:r>
                        <a:rPr lang="en-US" dirty="0"/>
                        <a:t>English</a:t>
                      </a:r>
                      <a:endParaRPr lang="en-IN" dirty="0"/>
                    </a:p>
                  </a:txBody>
                  <a:tcPr/>
                </a:tc>
                <a:tc>
                  <a:txBody>
                    <a:bodyPr/>
                    <a:lstStyle/>
                    <a:p>
                      <a:r>
                        <a:rPr lang="en-US" dirty="0"/>
                        <a:t>Accessibility for diverse users</a:t>
                      </a:r>
                      <a:endParaRPr lang="en-IN" dirty="0"/>
                    </a:p>
                  </a:txBody>
                  <a:tcPr/>
                </a:tc>
                <a:extLst>
                  <a:ext uri="{0D108BD9-81ED-4DB2-BD59-A6C34878D82A}">
                    <a16:rowId xmlns:a16="http://schemas.microsoft.com/office/drawing/2014/main" val="3623325571"/>
                  </a:ext>
                </a:extLst>
              </a:tr>
            </a:tbl>
          </a:graphicData>
        </a:graphic>
      </p:graphicFrame>
    </p:spTree>
    <p:extLst>
      <p:ext uri="{BB962C8B-B14F-4D97-AF65-F5344CB8AC3E}">
        <p14:creationId xmlns:p14="http://schemas.microsoft.com/office/powerpoint/2010/main" val="4713007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E52EE69-C489-8CF8-D26A-FF3E43296ED7}"/>
              </a:ext>
            </a:extLst>
          </p:cNvPr>
          <p:cNvSpPr>
            <a:spLocks noGrp="1"/>
          </p:cNvSpPr>
          <p:nvPr>
            <p:ph type="subTitle" idx="1"/>
          </p:nvPr>
        </p:nvSpPr>
        <p:spPr>
          <a:xfrm>
            <a:off x="720000" y="746760"/>
            <a:ext cx="7704000" cy="4008120"/>
          </a:xfrm>
        </p:spPr>
        <p:txBody>
          <a:bodyPr/>
          <a:lstStyle/>
          <a:p>
            <a:r>
              <a:rPr lang="en-US" sz="1800" b="1" u="sng" dirty="0">
                <a:solidFill>
                  <a:schemeClr val="accent1">
                    <a:lumMod val="75000"/>
                  </a:schemeClr>
                </a:solidFill>
              </a:rPr>
              <a:t>Hardware Configuration</a:t>
            </a:r>
            <a:r>
              <a:rPr lang="en-US" sz="1800" b="1" dirty="0">
                <a:solidFill>
                  <a:schemeClr val="accent1">
                    <a:lumMod val="75000"/>
                  </a:schemeClr>
                </a:solidFill>
              </a:rPr>
              <a:t> :</a:t>
            </a:r>
          </a:p>
          <a:p>
            <a:endParaRPr lang="en-US" sz="1800" b="1" u="sng" dirty="0">
              <a:solidFill>
                <a:srgbClr val="00B050"/>
              </a:solidFill>
            </a:endParaRPr>
          </a:p>
          <a:p>
            <a:pPr>
              <a:buFont typeface="Wingdings" panose="05000000000000000000" pitchFamily="2" charset="2"/>
              <a:buChar char="Ø"/>
            </a:pPr>
            <a:r>
              <a:rPr lang="en-IN" sz="1600" dirty="0"/>
              <a:t>Laptops/PCs for model training and development</a:t>
            </a:r>
          </a:p>
          <a:p>
            <a:pPr>
              <a:buFont typeface="Wingdings" panose="05000000000000000000" pitchFamily="2" charset="2"/>
              <a:buChar char="Ø"/>
            </a:pPr>
            <a:r>
              <a:rPr lang="en-IN" sz="1600" dirty="0"/>
              <a:t>Raspberry Pi or Edge Server for deployment prototype</a:t>
            </a:r>
          </a:p>
          <a:p>
            <a:pPr>
              <a:buFont typeface="Wingdings" panose="05000000000000000000" pitchFamily="2" charset="2"/>
              <a:buChar char="Ø"/>
            </a:pPr>
            <a:r>
              <a:rPr lang="en-IN" sz="1600" dirty="0"/>
              <a:t>Internet Connectivity for cloud synchronization</a:t>
            </a:r>
          </a:p>
          <a:p>
            <a:pPr>
              <a:buFont typeface="Wingdings" panose="05000000000000000000" pitchFamily="2" charset="2"/>
              <a:buChar char="Ø"/>
            </a:pPr>
            <a:r>
              <a:rPr lang="en-IN" sz="1600" dirty="0"/>
              <a:t>Smartphones (User Side) for WhatsApp/SMS access</a:t>
            </a:r>
          </a:p>
          <a:p>
            <a:pPr>
              <a:buFont typeface="Wingdings" panose="05000000000000000000" pitchFamily="2" charset="2"/>
              <a:buChar char="Ø"/>
            </a:pPr>
            <a:endParaRPr lang="en-IN" dirty="0"/>
          </a:p>
          <a:p>
            <a:r>
              <a:rPr lang="en-IN" sz="1800" b="1" u="sng" dirty="0">
                <a:solidFill>
                  <a:schemeClr val="accent1">
                    <a:lumMod val="75000"/>
                  </a:schemeClr>
                </a:solidFill>
              </a:rPr>
              <a:t>Working Mechanism</a:t>
            </a:r>
            <a:r>
              <a:rPr lang="en-IN" sz="1800" b="1" dirty="0">
                <a:solidFill>
                  <a:schemeClr val="accent1">
                    <a:lumMod val="75000"/>
                  </a:schemeClr>
                </a:solidFill>
              </a:rPr>
              <a:t> :</a:t>
            </a:r>
          </a:p>
          <a:p>
            <a:endParaRPr lang="en-IN" sz="1800" b="1" u="sng" dirty="0">
              <a:solidFill>
                <a:srgbClr val="00B050"/>
              </a:solidFill>
            </a:endParaRPr>
          </a:p>
          <a:p>
            <a:pPr>
              <a:buFont typeface="Wingdings" panose="05000000000000000000" pitchFamily="2" charset="2"/>
              <a:buChar char="Ø"/>
            </a:pPr>
            <a:r>
              <a:rPr lang="en-IN" sz="1600" dirty="0"/>
              <a:t>User sends a query (via WhatsApp or SMS)NLP model processes query and detects intent</a:t>
            </a:r>
          </a:p>
          <a:p>
            <a:pPr>
              <a:buFont typeface="Wingdings" panose="05000000000000000000" pitchFamily="2" charset="2"/>
              <a:buChar char="Ø"/>
            </a:pPr>
            <a:r>
              <a:rPr lang="en-IN" sz="1600" dirty="0"/>
              <a:t>Backend fetches verified health data from database</a:t>
            </a:r>
          </a:p>
          <a:p>
            <a:pPr>
              <a:buFont typeface="Wingdings" panose="05000000000000000000" pitchFamily="2" charset="2"/>
              <a:buChar char="Ø"/>
            </a:pPr>
            <a:r>
              <a:rPr lang="en-IN" sz="1600" dirty="0"/>
              <a:t>Response generated in user’s preferred language</a:t>
            </a:r>
          </a:p>
          <a:p>
            <a:pPr>
              <a:buFont typeface="Wingdings" panose="05000000000000000000" pitchFamily="2" charset="2"/>
              <a:buChar char="Ø"/>
            </a:pPr>
            <a:r>
              <a:rPr lang="en-IN" sz="1600" dirty="0"/>
              <a:t>If outbreak detected → sends automated alert to all users in affected region</a:t>
            </a:r>
          </a:p>
          <a:p>
            <a:endParaRPr lang="en-IN" dirty="0"/>
          </a:p>
        </p:txBody>
      </p:sp>
      <p:grpSp>
        <p:nvGrpSpPr>
          <p:cNvPr id="4" name="Google Shape;9111;p62">
            <a:extLst>
              <a:ext uri="{FF2B5EF4-FFF2-40B4-BE49-F238E27FC236}">
                <a16:creationId xmlns:a16="http://schemas.microsoft.com/office/drawing/2014/main" id="{6F3FB93B-A11F-C978-99E9-38DEF8BE119C}"/>
              </a:ext>
            </a:extLst>
          </p:cNvPr>
          <p:cNvGrpSpPr/>
          <p:nvPr/>
        </p:nvGrpSpPr>
        <p:grpSpPr>
          <a:xfrm>
            <a:off x="8604161" y="3754216"/>
            <a:ext cx="341719" cy="421543"/>
            <a:chOff x="4969421" y="2902852"/>
            <a:chExt cx="185109" cy="355406"/>
          </a:xfrm>
        </p:grpSpPr>
        <p:sp>
          <p:nvSpPr>
            <p:cNvPr id="5" name="Google Shape;9112;p62">
              <a:extLst>
                <a:ext uri="{FF2B5EF4-FFF2-40B4-BE49-F238E27FC236}">
                  <a16:creationId xmlns:a16="http://schemas.microsoft.com/office/drawing/2014/main" id="{0D61B6F7-9170-A656-7E35-7B2CBAEC3635}"/>
                </a:ext>
              </a:extLst>
            </p:cNvPr>
            <p:cNvSpPr/>
            <p:nvPr/>
          </p:nvSpPr>
          <p:spPr>
            <a:xfrm>
              <a:off x="5022906" y="3084138"/>
              <a:ext cx="16310" cy="15959"/>
            </a:xfrm>
            <a:custGeom>
              <a:avLst/>
              <a:gdLst/>
              <a:ahLst/>
              <a:cxnLst/>
              <a:rect l="l" t="t" r="r" b="b"/>
              <a:pathLst>
                <a:path w="512" h="501" extrusionOk="0">
                  <a:moveTo>
                    <a:pt x="262" y="1"/>
                  </a:moveTo>
                  <a:cubicBezTo>
                    <a:pt x="119" y="1"/>
                    <a:pt x="0" y="120"/>
                    <a:pt x="0" y="251"/>
                  </a:cubicBezTo>
                  <a:cubicBezTo>
                    <a:pt x="0" y="406"/>
                    <a:pt x="119" y="501"/>
                    <a:pt x="262" y="501"/>
                  </a:cubicBezTo>
                  <a:cubicBezTo>
                    <a:pt x="393" y="501"/>
                    <a:pt x="512" y="382"/>
                    <a:pt x="512" y="251"/>
                  </a:cubicBezTo>
                  <a:cubicBezTo>
                    <a:pt x="512" y="120"/>
                    <a:pt x="405" y="13"/>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113;p62">
              <a:extLst>
                <a:ext uri="{FF2B5EF4-FFF2-40B4-BE49-F238E27FC236}">
                  <a16:creationId xmlns:a16="http://schemas.microsoft.com/office/drawing/2014/main" id="{E0C6DBDB-75E7-D64F-3AB7-37B95D07B13D}"/>
                </a:ext>
              </a:extLst>
            </p:cNvPr>
            <p:cNvSpPr/>
            <p:nvPr/>
          </p:nvSpPr>
          <p:spPr>
            <a:xfrm>
              <a:off x="5086998" y="3107265"/>
              <a:ext cx="13284" cy="13315"/>
            </a:xfrm>
            <a:custGeom>
              <a:avLst/>
              <a:gdLst/>
              <a:ahLst/>
              <a:cxnLst/>
              <a:rect l="l" t="t" r="r" b="b"/>
              <a:pathLst>
                <a:path w="417" h="418" extrusionOk="0">
                  <a:moveTo>
                    <a:pt x="221" y="0"/>
                  </a:moveTo>
                  <a:cubicBezTo>
                    <a:pt x="215" y="0"/>
                    <a:pt x="209" y="0"/>
                    <a:pt x="203" y="1"/>
                  </a:cubicBezTo>
                  <a:cubicBezTo>
                    <a:pt x="84" y="1"/>
                    <a:pt x="0" y="96"/>
                    <a:pt x="0" y="215"/>
                  </a:cubicBezTo>
                  <a:cubicBezTo>
                    <a:pt x="0" y="334"/>
                    <a:pt x="84" y="418"/>
                    <a:pt x="203" y="418"/>
                  </a:cubicBezTo>
                  <a:cubicBezTo>
                    <a:pt x="334" y="418"/>
                    <a:pt x="417" y="334"/>
                    <a:pt x="417" y="215"/>
                  </a:cubicBezTo>
                  <a:cubicBezTo>
                    <a:pt x="417" y="92"/>
                    <a:pt x="322" y="0"/>
                    <a:pt x="2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114;p62">
              <a:extLst>
                <a:ext uri="{FF2B5EF4-FFF2-40B4-BE49-F238E27FC236}">
                  <a16:creationId xmlns:a16="http://schemas.microsoft.com/office/drawing/2014/main" id="{CEAB65C8-445D-88F4-91EB-D1C1BE9B455D}"/>
                </a:ext>
              </a:extLst>
            </p:cNvPr>
            <p:cNvSpPr/>
            <p:nvPr/>
          </p:nvSpPr>
          <p:spPr>
            <a:xfrm>
              <a:off x="5039566" y="3205092"/>
              <a:ext cx="13315" cy="13347"/>
            </a:xfrm>
            <a:custGeom>
              <a:avLst/>
              <a:gdLst/>
              <a:ahLst/>
              <a:cxnLst/>
              <a:rect l="l" t="t" r="r" b="b"/>
              <a:pathLst>
                <a:path w="418" h="419" extrusionOk="0">
                  <a:moveTo>
                    <a:pt x="225" y="1"/>
                  </a:moveTo>
                  <a:cubicBezTo>
                    <a:pt x="218" y="1"/>
                    <a:pt x="211" y="1"/>
                    <a:pt x="203" y="2"/>
                  </a:cubicBezTo>
                  <a:cubicBezTo>
                    <a:pt x="84" y="2"/>
                    <a:pt x="1" y="85"/>
                    <a:pt x="1" y="204"/>
                  </a:cubicBezTo>
                  <a:cubicBezTo>
                    <a:pt x="1" y="323"/>
                    <a:pt x="84" y="419"/>
                    <a:pt x="203" y="419"/>
                  </a:cubicBezTo>
                  <a:cubicBezTo>
                    <a:pt x="334" y="419"/>
                    <a:pt x="418" y="323"/>
                    <a:pt x="418" y="204"/>
                  </a:cubicBezTo>
                  <a:cubicBezTo>
                    <a:pt x="418" y="92"/>
                    <a:pt x="343" y="1"/>
                    <a:pt x="2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115;p62">
              <a:extLst>
                <a:ext uri="{FF2B5EF4-FFF2-40B4-BE49-F238E27FC236}">
                  <a16:creationId xmlns:a16="http://schemas.microsoft.com/office/drawing/2014/main" id="{6A549896-6360-CB10-BB3E-298F735C20A3}"/>
                </a:ext>
              </a:extLst>
            </p:cNvPr>
            <p:cNvSpPr/>
            <p:nvPr/>
          </p:nvSpPr>
          <p:spPr>
            <a:xfrm>
              <a:off x="5086998" y="3175530"/>
              <a:ext cx="13284" cy="13315"/>
            </a:xfrm>
            <a:custGeom>
              <a:avLst/>
              <a:gdLst/>
              <a:ahLst/>
              <a:cxnLst/>
              <a:rect l="l" t="t" r="r" b="b"/>
              <a:pathLst>
                <a:path w="417" h="418" extrusionOk="0">
                  <a:moveTo>
                    <a:pt x="219" y="0"/>
                  </a:moveTo>
                  <a:cubicBezTo>
                    <a:pt x="214" y="0"/>
                    <a:pt x="208" y="1"/>
                    <a:pt x="203" y="1"/>
                  </a:cubicBezTo>
                  <a:cubicBezTo>
                    <a:pt x="84" y="1"/>
                    <a:pt x="0" y="96"/>
                    <a:pt x="0" y="215"/>
                  </a:cubicBezTo>
                  <a:cubicBezTo>
                    <a:pt x="0" y="323"/>
                    <a:pt x="84" y="418"/>
                    <a:pt x="203" y="418"/>
                  </a:cubicBezTo>
                  <a:cubicBezTo>
                    <a:pt x="334" y="418"/>
                    <a:pt x="417" y="323"/>
                    <a:pt x="417" y="215"/>
                  </a:cubicBezTo>
                  <a:cubicBezTo>
                    <a:pt x="417" y="103"/>
                    <a:pt x="320" y="0"/>
                    <a:pt x="2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116;p62">
              <a:extLst>
                <a:ext uri="{FF2B5EF4-FFF2-40B4-BE49-F238E27FC236}">
                  <a16:creationId xmlns:a16="http://schemas.microsoft.com/office/drawing/2014/main" id="{45E06062-414C-F777-47BB-B476DE23C42D}"/>
                </a:ext>
              </a:extLst>
            </p:cNvPr>
            <p:cNvSpPr/>
            <p:nvPr/>
          </p:nvSpPr>
          <p:spPr>
            <a:xfrm>
              <a:off x="5033131" y="3137623"/>
              <a:ext cx="17106" cy="17106"/>
            </a:xfrm>
            <a:custGeom>
              <a:avLst/>
              <a:gdLst/>
              <a:ahLst/>
              <a:cxnLst/>
              <a:rect l="l" t="t" r="r" b="b"/>
              <a:pathLst>
                <a:path w="537" h="537" extrusionOk="0">
                  <a:moveTo>
                    <a:pt x="262" y="1"/>
                  </a:moveTo>
                  <a:cubicBezTo>
                    <a:pt x="120" y="1"/>
                    <a:pt x="1" y="120"/>
                    <a:pt x="1" y="274"/>
                  </a:cubicBezTo>
                  <a:cubicBezTo>
                    <a:pt x="1" y="417"/>
                    <a:pt x="120" y="536"/>
                    <a:pt x="262" y="536"/>
                  </a:cubicBezTo>
                  <a:cubicBezTo>
                    <a:pt x="417" y="536"/>
                    <a:pt x="536" y="417"/>
                    <a:pt x="536" y="274"/>
                  </a:cubicBezTo>
                  <a:cubicBezTo>
                    <a:pt x="536" y="120"/>
                    <a:pt x="417"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117;p62">
              <a:extLst>
                <a:ext uri="{FF2B5EF4-FFF2-40B4-BE49-F238E27FC236}">
                  <a16:creationId xmlns:a16="http://schemas.microsoft.com/office/drawing/2014/main" id="{14C08EE7-70FD-F9E4-7634-DD9E563BB0FD}"/>
                </a:ext>
              </a:extLst>
            </p:cNvPr>
            <p:cNvSpPr/>
            <p:nvPr/>
          </p:nvSpPr>
          <p:spPr>
            <a:xfrm>
              <a:off x="4969421" y="2902852"/>
              <a:ext cx="185109" cy="355406"/>
            </a:xfrm>
            <a:custGeom>
              <a:avLst/>
              <a:gdLst/>
              <a:ahLst/>
              <a:cxnLst/>
              <a:rect l="l" t="t" r="r" b="b"/>
              <a:pathLst>
                <a:path w="5811" h="11157" extrusionOk="0">
                  <a:moveTo>
                    <a:pt x="1916" y="4904"/>
                  </a:moveTo>
                  <a:cubicBezTo>
                    <a:pt x="2183" y="4904"/>
                    <a:pt x="2490" y="4967"/>
                    <a:pt x="2810" y="5156"/>
                  </a:cubicBezTo>
                  <a:cubicBezTo>
                    <a:pt x="3108" y="5335"/>
                    <a:pt x="3426" y="5421"/>
                    <a:pt x="3748" y="5421"/>
                  </a:cubicBezTo>
                  <a:cubicBezTo>
                    <a:pt x="4069" y="5421"/>
                    <a:pt x="4394" y="5335"/>
                    <a:pt x="4703" y="5168"/>
                  </a:cubicBezTo>
                  <a:lnTo>
                    <a:pt x="4703" y="9025"/>
                  </a:lnTo>
                  <a:cubicBezTo>
                    <a:pt x="4703" y="10026"/>
                    <a:pt x="3906" y="10823"/>
                    <a:pt x="2905" y="10823"/>
                  </a:cubicBezTo>
                  <a:cubicBezTo>
                    <a:pt x="1905" y="10823"/>
                    <a:pt x="1108" y="10026"/>
                    <a:pt x="1108" y="9025"/>
                  </a:cubicBezTo>
                  <a:lnTo>
                    <a:pt x="1108" y="5108"/>
                  </a:lnTo>
                  <a:cubicBezTo>
                    <a:pt x="1228" y="5038"/>
                    <a:pt x="1528" y="4904"/>
                    <a:pt x="1916" y="4904"/>
                  </a:cubicBezTo>
                  <a:close/>
                  <a:moveTo>
                    <a:pt x="512" y="1"/>
                  </a:moveTo>
                  <a:cubicBezTo>
                    <a:pt x="226" y="1"/>
                    <a:pt x="0" y="227"/>
                    <a:pt x="0" y="513"/>
                  </a:cubicBezTo>
                  <a:lnTo>
                    <a:pt x="0" y="834"/>
                  </a:lnTo>
                  <a:cubicBezTo>
                    <a:pt x="0" y="1120"/>
                    <a:pt x="226" y="1346"/>
                    <a:pt x="512" y="1346"/>
                  </a:cubicBezTo>
                  <a:lnTo>
                    <a:pt x="774" y="1346"/>
                  </a:lnTo>
                  <a:lnTo>
                    <a:pt x="774" y="9025"/>
                  </a:lnTo>
                  <a:cubicBezTo>
                    <a:pt x="774" y="10204"/>
                    <a:pt x="1727" y="11157"/>
                    <a:pt x="2905" y="11157"/>
                  </a:cubicBezTo>
                  <a:cubicBezTo>
                    <a:pt x="4084" y="11157"/>
                    <a:pt x="5037" y="10204"/>
                    <a:pt x="5037" y="9025"/>
                  </a:cubicBezTo>
                  <a:lnTo>
                    <a:pt x="5037" y="3441"/>
                  </a:lnTo>
                  <a:cubicBezTo>
                    <a:pt x="5037" y="3358"/>
                    <a:pt x="4953" y="3275"/>
                    <a:pt x="4870" y="3275"/>
                  </a:cubicBezTo>
                  <a:cubicBezTo>
                    <a:pt x="4775" y="3275"/>
                    <a:pt x="4703" y="3358"/>
                    <a:pt x="4703" y="3441"/>
                  </a:cubicBezTo>
                  <a:lnTo>
                    <a:pt x="4703" y="4787"/>
                  </a:lnTo>
                  <a:cubicBezTo>
                    <a:pt x="4571" y="4873"/>
                    <a:pt x="4209" y="5081"/>
                    <a:pt x="3757" y="5081"/>
                  </a:cubicBezTo>
                  <a:cubicBezTo>
                    <a:pt x="3519" y="5081"/>
                    <a:pt x="3256" y="5023"/>
                    <a:pt x="2989" y="4858"/>
                  </a:cubicBezTo>
                  <a:cubicBezTo>
                    <a:pt x="2617" y="4633"/>
                    <a:pt x="2259" y="4557"/>
                    <a:pt x="1945" y="4557"/>
                  </a:cubicBezTo>
                  <a:cubicBezTo>
                    <a:pt x="1596" y="4557"/>
                    <a:pt x="1302" y="4651"/>
                    <a:pt x="1108" y="4739"/>
                  </a:cubicBezTo>
                  <a:lnTo>
                    <a:pt x="1108" y="1334"/>
                  </a:lnTo>
                  <a:lnTo>
                    <a:pt x="4703" y="1334"/>
                  </a:lnTo>
                  <a:lnTo>
                    <a:pt x="4703" y="2560"/>
                  </a:lnTo>
                  <a:cubicBezTo>
                    <a:pt x="4703" y="2656"/>
                    <a:pt x="4775" y="2727"/>
                    <a:pt x="4870" y="2727"/>
                  </a:cubicBezTo>
                  <a:cubicBezTo>
                    <a:pt x="4953" y="2727"/>
                    <a:pt x="5037" y="2656"/>
                    <a:pt x="5037" y="2560"/>
                  </a:cubicBezTo>
                  <a:lnTo>
                    <a:pt x="5037" y="1334"/>
                  </a:lnTo>
                  <a:lnTo>
                    <a:pt x="5299" y="1334"/>
                  </a:lnTo>
                  <a:cubicBezTo>
                    <a:pt x="5584" y="1334"/>
                    <a:pt x="5811" y="1108"/>
                    <a:pt x="5811" y="822"/>
                  </a:cubicBezTo>
                  <a:lnTo>
                    <a:pt x="5811" y="501"/>
                  </a:lnTo>
                  <a:cubicBezTo>
                    <a:pt x="5787" y="227"/>
                    <a:pt x="5549" y="1"/>
                    <a:pt x="5287" y="1"/>
                  </a:cubicBezTo>
                  <a:lnTo>
                    <a:pt x="1822" y="1"/>
                  </a:lnTo>
                  <a:cubicBezTo>
                    <a:pt x="1727" y="1"/>
                    <a:pt x="1655" y="84"/>
                    <a:pt x="1655" y="167"/>
                  </a:cubicBezTo>
                  <a:cubicBezTo>
                    <a:pt x="1655" y="263"/>
                    <a:pt x="1727" y="334"/>
                    <a:pt x="1822" y="334"/>
                  </a:cubicBezTo>
                  <a:lnTo>
                    <a:pt x="5287" y="334"/>
                  </a:lnTo>
                  <a:cubicBezTo>
                    <a:pt x="5394" y="334"/>
                    <a:pt x="5465" y="405"/>
                    <a:pt x="5465" y="513"/>
                  </a:cubicBezTo>
                  <a:lnTo>
                    <a:pt x="5465" y="834"/>
                  </a:lnTo>
                  <a:cubicBezTo>
                    <a:pt x="5465" y="941"/>
                    <a:pt x="5394" y="1013"/>
                    <a:pt x="5287" y="1013"/>
                  </a:cubicBezTo>
                  <a:lnTo>
                    <a:pt x="512" y="1013"/>
                  </a:lnTo>
                  <a:cubicBezTo>
                    <a:pt x="405" y="1013"/>
                    <a:pt x="334" y="941"/>
                    <a:pt x="334" y="834"/>
                  </a:cubicBezTo>
                  <a:lnTo>
                    <a:pt x="334" y="513"/>
                  </a:lnTo>
                  <a:cubicBezTo>
                    <a:pt x="334" y="405"/>
                    <a:pt x="405" y="334"/>
                    <a:pt x="512" y="334"/>
                  </a:cubicBezTo>
                  <a:lnTo>
                    <a:pt x="941" y="334"/>
                  </a:lnTo>
                  <a:cubicBezTo>
                    <a:pt x="1024" y="334"/>
                    <a:pt x="1108" y="263"/>
                    <a:pt x="1108" y="167"/>
                  </a:cubicBezTo>
                  <a:cubicBezTo>
                    <a:pt x="1108" y="84"/>
                    <a:pt x="1024" y="1"/>
                    <a:pt x="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59664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046E2ED-6544-EBAD-6634-F611321138AA}"/>
              </a:ext>
            </a:extLst>
          </p:cNvPr>
          <p:cNvSpPr>
            <a:spLocks noGrp="1"/>
          </p:cNvSpPr>
          <p:nvPr>
            <p:ph type="title"/>
          </p:nvPr>
        </p:nvSpPr>
        <p:spPr>
          <a:xfrm>
            <a:off x="720725" y="195093"/>
            <a:ext cx="7702550" cy="582147"/>
          </a:xfrm>
        </p:spPr>
        <p:txBody>
          <a:bodyPr>
            <a:noAutofit/>
          </a:bodyPr>
          <a:lstStyle/>
          <a:p>
            <a:pPr algn="ctr"/>
            <a:r>
              <a:rPr lang="en-US" b="1" u="sng" dirty="0"/>
              <a:t>PROTOTYPE</a:t>
            </a:r>
            <a:endParaRPr lang="en-IN" dirty="0"/>
          </a:p>
        </p:txBody>
      </p:sp>
      <p:pic>
        <p:nvPicPr>
          <p:cNvPr id="11" name="Picture 10">
            <a:extLst>
              <a:ext uri="{FF2B5EF4-FFF2-40B4-BE49-F238E27FC236}">
                <a16:creationId xmlns:a16="http://schemas.microsoft.com/office/drawing/2014/main" id="{EED4BFD9-7F17-2CC2-3D8F-1143A2D2FF73}"/>
              </a:ext>
            </a:extLst>
          </p:cNvPr>
          <p:cNvPicPr>
            <a:picLocks noChangeAspect="1"/>
          </p:cNvPicPr>
          <p:nvPr/>
        </p:nvPicPr>
        <p:blipFill>
          <a:blip r:embed="rId2"/>
          <a:srcRect r="1488"/>
          <a:stretch>
            <a:fillRect/>
          </a:stretch>
        </p:blipFill>
        <p:spPr>
          <a:xfrm>
            <a:off x="1178897" y="937072"/>
            <a:ext cx="6974776" cy="35898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1587655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4085A61-A668-A52F-9379-C7D71BCF5EA6}"/>
              </a:ext>
            </a:extLst>
          </p:cNvPr>
          <p:cNvSpPr>
            <a:spLocks noGrp="1"/>
          </p:cNvSpPr>
          <p:nvPr>
            <p:ph type="subTitle" idx="1"/>
          </p:nvPr>
        </p:nvSpPr>
        <p:spPr>
          <a:xfrm>
            <a:off x="720000" y="1212524"/>
            <a:ext cx="7704000" cy="3641415"/>
          </a:xfrm>
        </p:spPr>
        <p:txBody>
          <a:bodyPr/>
          <a:lstStyle/>
          <a:p>
            <a:pPr marL="152400" indent="0">
              <a:buNone/>
            </a:pPr>
            <a:endParaRPr lang="en-US" sz="1600" dirty="0"/>
          </a:p>
          <a:p>
            <a:r>
              <a:rPr lang="en-US" sz="1600" u="sng" dirty="0">
                <a:solidFill>
                  <a:schemeClr val="tx2">
                    <a:lumMod val="60000"/>
                    <a:lumOff val="40000"/>
                  </a:schemeClr>
                </a:solidFill>
              </a:rPr>
              <a:t>Accessible Technology: </a:t>
            </a:r>
            <a:r>
              <a:rPr lang="en-US" sz="1600" dirty="0"/>
              <a:t> It is a web-based technology, and it removes the need for a separate app.</a:t>
            </a:r>
          </a:p>
          <a:p>
            <a:endParaRPr lang="en-US" sz="1600" dirty="0"/>
          </a:p>
          <a:p>
            <a:r>
              <a:rPr lang="en-US" sz="1600" u="sng" dirty="0">
                <a:solidFill>
                  <a:schemeClr val="tx2">
                    <a:lumMod val="60000"/>
                    <a:lumOff val="40000"/>
                  </a:schemeClr>
                </a:solidFill>
              </a:rPr>
              <a:t>Government Data Integration: </a:t>
            </a:r>
            <a:r>
              <a:rPr lang="en-US" sz="1600" dirty="0"/>
              <a:t>Fetches live health updates from </a:t>
            </a:r>
            <a:r>
              <a:rPr lang="en-US" sz="1600" dirty="0" err="1"/>
              <a:t>MoHFW</a:t>
            </a:r>
            <a:r>
              <a:rPr lang="en-US" sz="1600" dirty="0"/>
              <a:t> and WHO APIs for verified, real-time responses.</a:t>
            </a:r>
          </a:p>
          <a:p>
            <a:endParaRPr lang="en-US" sz="1600" dirty="0"/>
          </a:p>
          <a:p>
            <a:r>
              <a:rPr lang="en-US" sz="1600" u="sng" dirty="0">
                <a:solidFill>
                  <a:schemeClr val="tx2">
                    <a:lumMod val="60000"/>
                    <a:lumOff val="40000"/>
                  </a:schemeClr>
                </a:solidFill>
              </a:rPr>
              <a:t>AI Outbreak Detection: </a:t>
            </a:r>
            <a:r>
              <a:rPr lang="en-US" sz="1600" dirty="0"/>
              <a:t>Uses basic anomaly detection models to identify and broadcast disease alerts in specific regions</a:t>
            </a:r>
          </a:p>
          <a:p>
            <a:pPr marL="152400" indent="0">
              <a:buNone/>
            </a:pPr>
            <a:endParaRPr lang="en-US" sz="1600" dirty="0"/>
          </a:p>
          <a:p>
            <a:r>
              <a:rPr lang="en-US" sz="1600" u="sng" dirty="0">
                <a:solidFill>
                  <a:schemeClr val="tx2">
                    <a:lumMod val="60000"/>
                    <a:lumOff val="40000"/>
                  </a:schemeClr>
                </a:solidFill>
              </a:rPr>
              <a:t>User-Centric Design: </a:t>
            </a:r>
            <a:r>
              <a:rPr lang="en-US" sz="1600" dirty="0"/>
              <a:t>Simple, intuitive interface suitable for elderly and rural users with minimal digital literacy.</a:t>
            </a:r>
            <a:endParaRPr lang="en-IN" sz="1600" dirty="0"/>
          </a:p>
          <a:p>
            <a:endParaRPr lang="en-IN" dirty="0"/>
          </a:p>
        </p:txBody>
      </p:sp>
      <p:sp>
        <p:nvSpPr>
          <p:cNvPr id="4" name="Title 1">
            <a:extLst>
              <a:ext uri="{FF2B5EF4-FFF2-40B4-BE49-F238E27FC236}">
                <a16:creationId xmlns:a16="http://schemas.microsoft.com/office/drawing/2014/main" id="{11166879-BE2A-C62D-50C7-46EE3F46670B}"/>
              </a:ext>
            </a:extLst>
          </p:cNvPr>
          <p:cNvSpPr>
            <a:spLocks noGrp="1"/>
          </p:cNvSpPr>
          <p:nvPr>
            <p:ph type="title"/>
          </p:nvPr>
        </p:nvSpPr>
        <p:spPr>
          <a:xfrm>
            <a:off x="721450" y="289561"/>
            <a:ext cx="7702550" cy="573088"/>
          </a:xfrm>
        </p:spPr>
        <p:txBody>
          <a:bodyPr>
            <a:noAutofit/>
          </a:bodyPr>
          <a:lstStyle/>
          <a:p>
            <a:pPr algn="ctr"/>
            <a:r>
              <a:rPr lang="en-US" b="1" u="sng" dirty="0"/>
              <a:t>INNOVATION AND CREATIVITY</a:t>
            </a:r>
            <a:endParaRPr lang="en-IN" dirty="0"/>
          </a:p>
        </p:txBody>
      </p:sp>
    </p:spTree>
    <p:extLst>
      <p:ext uri="{BB962C8B-B14F-4D97-AF65-F5344CB8AC3E}">
        <p14:creationId xmlns:p14="http://schemas.microsoft.com/office/powerpoint/2010/main" val="1418830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7AAE5F-FD73-390F-0A3E-023D0E55C7E8}"/>
              </a:ext>
            </a:extLst>
          </p:cNvPr>
          <p:cNvSpPr>
            <a:spLocks noGrp="1"/>
          </p:cNvSpPr>
          <p:nvPr>
            <p:ph type="subTitle" idx="1"/>
          </p:nvPr>
        </p:nvSpPr>
        <p:spPr>
          <a:xfrm>
            <a:off x="720000" y="819560"/>
            <a:ext cx="7704000" cy="3396000"/>
          </a:xfrm>
        </p:spPr>
        <p:txBody>
          <a:bodyPr/>
          <a:lstStyle/>
          <a:p>
            <a:r>
              <a:rPr lang="en-IN" sz="2000" u="sng" dirty="0">
                <a:solidFill>
                  <a:srgbClr val="FFC000"/>
                </a:solidFill>
              </a:rPr>
              <a:t>Social Impact:</a:t>
            </a:r>
            <a:endParaRPr lang="en-IN" sz="2000" u="sng" dirty="0">
              <a:solidFill>
                <a:schemeClr val="accent1">
                  <a:lumMod val="40000"/>
                  <a:lumOff val="60000"/>
                </a:schemeClr>
              </a:solidFill>
            </a:endParaRPr>
          </a:p>
          <a:p>
            <a:pPr>
              <a:buFont typeface="Wingdings" panose="05000000000000000000" pitchFamily="2" charset="2"/>
              <a:buChar char="§"/>
            </a:pPr>
            <a:r>
              <a:rPr lang="en-IN" sz="1600" dirty="0"/>
              <a:t>Promotes preventive healthcare and reduces misinformation.</a:t>
            </a:r>
          </a:p>
          <a:p>
            <a:pPr>
              <a:buFont typeface="Wingdings" panose="05000000000000000000" pitchFamily="2" charset="2"/>
              <a:buChar char="§"/>
            </a:pPr>
            <a:r>
              <a:rPr lang="en-IN" sz="1600" dirty="0"/>
              <a:t>Increases vaccination and hygiene awareness in underserved regions.</a:t>
            </a:r>
          </a:p>
          <a:p>
            <a:pPr>
              <a:buFont typeface="Wingdings" panose="05000000000000000000" pitchFamily="2" charset="2"/>
              <a:buChar char="§"/>
            </a:pPr>
            <a:r>
              <a:rPr lang="en-IN" sz="1600" dirty="0"/>
              <a:t>Bridges the digital healthcare divide between urban and rural India.</a:t>
            </a:r>
          </a:p>
          <a:p>
            <a:pPr>
              <a:buFont typeface="Wingdings" panose="05000000000000000000" pitchFamily="2" charset="2"/>
              <a:buChar char="§"/>
            </a:pPr>
            <a:r>
              <a:rPr lang="en-IN" sz="1600" dirty="0"/>
              <a:t>Supports national initiatives like Digital India and Ayushman Bharat by empowering citizens with accurate information.</a:t>
            </a:r>
          </a:p>
          <a:p>
            <a:pPr>
              <a:buFont typeface="Wingdings" panose="05000000000000000000" pitchFamily="2" charset="2"/>
              <a:buChar char="§"/>
            </a:pPr>
            <a:endParaRPr lang="en-IN" sz="1600" dirty="0"/>
          </a:p>
          <a:p>
            <a:r>
              <a:rPr lang="en-IN" sz="2000" u="sng" dirty="0">
                <a:solidFill>
                  <a:srgbClr val="FFC000"/>
                </a:solidFill>
              </a:rPr>
              <a:t>Scalability</a:t>
            </a:r>
            <a:endParaRPr lang="en-IN" sz="1600" u="sng" dirty="0">
              <a:solidFill>
                <a:srgbClr val="FF0000"/>
              </a:solidFill>
            </a:endParaRPr>
          </a:p>
          <a:p>
            <a:pPr>
              <a:buFont typeface="Wingdings" panose="05000000000000000000" pitchFamily="2" charset="2"/>
              <a:buChar char="§"/>
            </a:pPr>
            <a:r>
              <a:rPr lang="en-US" sz="1600" dirty="0"/>
              <a:t>Easily extendable to cover maternal health, mental health, and nutrition awareness.</a:t>
            </a:r>
          </a:p>
          <a:p>
            <a:pPr>
              <a:buFont typeface="Wingdings" panose="05000000000000000000" pitchFamily="2" charset="2"/>
              <a:buChar char="§"/>
            </a:pPr>
            <a:r>
              <a:rPr lang="en-US" sz="1600" dirty="0"/>
              <a:t>Can integrate with wearable devices or health management systems in future versions.</a:t>
            </a:r>
          </a:p>
          <a:p>
            <a:pPr>
              <a:buFont typeface="Wingdings" panose="05000000000000000000" pitchFamily="2" charset="2"/>
              <a:buChar char="§"/>
            </a:pPr>
            <a:r>
              <a:rPr lang="en-US" sz="1600" dirty="0"/>
              <a:t>Modular architecture enables deployment in any state or language with minor NLP retraining.</a:t>
            </a:r>
          </a:p>
          <a:p>
            <a:pPr>
              <a:buFont typeface="Wingdings" panose="05000000000000000000" pitchFamily="2" charset="2"/>
              <a:buChar char="§"/>
            </a:pPr>
            <a:r>
              <a:rPr lang="en-US" sz="1600" dirty="0"/>
              <a:t>Cloud-based backend allows scaling to millions of users with minimal additional cost.</a:t>
            </a:r>
            <a:endParaRPr lang="en-IN" sz="1600" dirty="0"/>
          </a:p>
          <a:p>
            <a:pPr>
              <a:buFont typeface="Wingdings" panose="05000000000000000000" pitchFamily="2" charset="2"/>
              <a:buChar char="§"/>
            </a:pPr>
            <a:endParaRPr lang="en-IN" sz="1600" dirty="0"/>
          </a:p>
          <a:p>
            <a:endParaRPr lang="en-IN" u="sng" dirty="0">
              <a:solidFill>
                <a:srgbClr val="FF0000"/>
              </a:solidFill>
            </a:endParaRPr>
          </a:p>
          <a:p>
            <a:endParaRPr lang="en-IN" dirty="0"/>
          </a:p>
        </p:txBody>
      </p:sp>
      <p:sp>
        <p:nvSpPr>
          <p:cNvPr id="4" name="Title 1">
            <a:extLst>
              <a:ext uri="{FF2B5EF4-FFF2-40B4-BE49-F238E27FC236}">
                <a16:creationId xmlns:a16="http://schemas.microsoft.com/office/drawing/2014/main" id="{695FEE20-3979-17B5-7D23-4A16DF746189}"/>
              </a:ext>
            </a:extLst>
          </p:cNvPr>
          <p:cNvSpPr>
            <a:spLocks noGrp="1"/>
          </p:cNvSpPr>
          <p:nvPr>
            <p:ph type="title"/>
          </p:nvPr>
        </p:nvSpPr>
        <p:spPr>
          <a:xfrm>
            <a:off x="721450" y="165303"/>
            <a:ext cx="7702550" cy="573088"/>
          </a:xfrm>
        </p:spPr>
        <p:txBody>
          <a:bodyPr>
            <a:noAutofit/>
          </a:bodyPr>
          <a:lstStyle/>
          <a:p>
            <a:r>
              <a:rPr lang="en-US" b="1" u="sng" dirty="0"/>
              <a:t>SOCIAL IMPACT AND SCALABILITY:</a:t>
            </a:r>
            <a:endParaRPr lang="en-IN" dirty="0"/>
          </a:p>
        </p:txBody>
      </p:sp>
    </p:spTree>
    <p:extLst>
      <p:ext uri="{BB962C8B-B14F-4D97-AF65-F5344CB8AC3E}">
        <p14:creationId xmlns:p14="http://schemas.microsoft.com/office/powerpoint/2010/main" val="368630794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8E24EAA-0284-0505-3E39-938939FC73D0}"/>
              </a:ext>
            </a:extLst>
          </p:cNvPr>
          <p:cNvSpPr>
            <a:spLocks noGrp="1"/>
          </p:cNvSpPr>
          <p:nvPr>
            <p:ph type="subTitle" idx="1"/>
          </p:nvPr>
        </p:nvSpPr>
        <p:spPr/>
        <p:txBody>
          <a:bodyPr/>
          <a:lstStyle/>
          <a:p>
            <a:pPr marL="0" indent="0">
              <a:buNone/>
            </a:pPr>
            <a:r>
              <a:rPr lang="en-US" sz="1800" dirty="0"/>
              <a:t>Our AI-Driven Public Health Chatbot transforms how people access healthcare knowledge — from confusion and misinformation to clarity and empowerment.</a:t>
            </a:r>
          </a:p>
          <a:p>
            <a:pPr marL="0" indent="0">
              <a:buNone/>
            </a:pPr>
            <a:endParaRPr lang="en-US" sz="1800" dirty="0"/>
          </a:p>
          <a:p>
            <a:pPr marL="0" indent="0">
              <a:buNone/>
            </a:pPr>
            <a:r>
              <a:rPr lang="en-US" sz="1800" dirty="0"/>
              <a:t>By merging AI, accessibility, and public service, this project aims to create a digitally inclusive and health-aware India.</a:t>
            </a:r>
            <a:endParaRPr lang="en-IN" sz="1800" dirty="0"/>
          </a:p>
          <a:p>
            <a:endParaRPr lang="en-IN" dirty="0"/>
          </a:p>
        </p:txBody>
      </p:sp>
      <p:sp>
        <p:nvSpPr>
          <p:cNvPr id="4" name="Title 1">
            <a:extLst>
              <a:ext uri="{FF2B5EF4-FFF2-40B4-BE49-F238E27FC236}">
                <a16:creationId xmlns:a16="http://schemas.microsoft.com/office/drawing/2014/main" id="{82AF6414-F645-720B-2C58-FD4DB9741E9D}"/>
              </a:ext>
            </a:extLst>
          </p:cNvPr>
          <p:cNvSpPr>
            <a:spLocks noGrp="1"/>
          </p:cNvSpPr>
          <p:nvPr>
            <p:ph type="title"/>
          </p:nvPr>
        </p:nvSpPr>
        <p:spPr>
          <a:xfrm>
            <a:off x="720725" y="444500"/>
            <a:ext cx="7702550" cy="573088"/>
          </a:xfrm>
        </p:spPr>
        <p:txBody>
          <a:bodyPr>
            <a:noAutofit/>
          </a:bodyPr>
          <a:lstStyle/>
          <a:p>
            <a:pPr algn="ctr"/>
            <a:r>
              <a:rPr lang="en-US" b="1" u="sng" dirty="0"/>
              <a:t>CONCLUSION</a:t>
            </a:r>
            <a:endParaRPr lang="en-IN" dirty="0"/>
          </a:p>
        </p:txBody>
      </p:sp>
      <p:grpSp>
        <p:nvGrpSpPr>
          <p:cNvPr id="5" name="Google Shape;8371;p61">
            <a:extLst>
              <a:ext uri="{FF2B5EF4-FFF2-40B4-BE49-F238E27FC236}">
                <a16:creationId xmlns:a16="http://schemas.microsoft.com/office/drawing/2014/main" id="{15B884D0-B88C-D2DE-9CA0-37C39077903A}"/>
              </a:ext>
            </a:extLst>
          </p:cNvPr>
          <p:cNvGrpSpPr/>
          <p:nvPr/>
        </p:nvGrpSpPr>
        <p:grpSpPr>
          <a:xfrm>
            <a:off x="8002039" y="4269546"/>
            <a:ext cx="842472" cy="677957"/>
            <a:chOff x="1958520" y="2302574"/>
            <a:chExt cx="359213" cy="327807"/>
          </a:xfrm>
        </p:grpSpPr>
        <p:sp>
          <p:nvSpPr>
            <p:cNvPr id="6" name="Google Shape;8372;p61">
              <a:extLst>
                <a:ext uri="{FF2B5EF4-FFF2-40B4-BE49-F238E27FC236}">
                  <a16:creationId xmlns:a16="http://schemas.microsoft.com/office/drawing/2014/main" id="{CB697D5C-C660-F537-7647-DFFE6CFE49B1}"/>
                </a:ext>
              </a:extLst>
            </p:cNvPr>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373;p61">
              <a:extLst>
                <a:ext uri="{FF2B5EF4-FFF2-40B4-BE49-F238E27FC236}">
                  <a16:creationId xmlns:a16="http://schemas.microsoft.com/office/drawing/2014/main" id="{E41DB83A-CD33-B534-7AE2-E816F3AC370C}"/>
                </a:ext>
              </a:extLst>
            </p:cNvPr>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374;p61">
              <a:extLst>
                <a:ext uri="{FF2B5EF4-FFF2-40B4-BE49-F238E27FC236}">
                  <a16:creationId xmlns:a16="http://schemas.microsoft.com/office/drawing/2014/main" id="{13936F49-B025-4733-DE57-73AFBABAC1D0}"/>
                </a:ext>
              </a:extLst>
            </p:cNvPr>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Google Shape;744;p54">
            <a:extLst>
              <a:ext uri="{FF2B5EF4-FFF2-40B4-BE49-F238E27FC236}">
                <a16:creationId xmlns:a16="http://schemas.microsoft.com/office/drawing/2014/main" id="{DDD8A30E-D3CA-B3BF-4196-A053506D1E4B}"/>
              </a:ext>
            </a:extLst>
          </p:cNvPr>
          <p:cNvPicPr preferRelativeResize="0"/>
          <p:nvPr/>
        </p:nvPicPr>
        <p:blipFill rotWithShape="1">
          <a:blip r:embed="rId2">
            <a:alphaModFix/>
          </a:blip>
          <a:srcRect t="14837" b="14844"/>
          <a:stretch/>
        </p:blipFill>
        <p:spPr>
          <a:xfrm>
            <a:off x="2083" y="3759965"/>
            <a:ext cx="1996440" cy="1383535"/>
          </a:xfrm>
          <a:prstGeom prst="rect">
            <a:avLst/>
          </a:prstGeom>
          <a:noFill/>
          <a:ln>
            <a:noFill/>
          </a:ln>
        </p:spPr>
      </p:pic>
    </p:spTree>
    <p:extLst>
      <p:ext uri="{BB962C8B-B14F-4D97-AF65-F5344CB8AC3E}">
        <p14:creationId xmlns:p14="http://schemas.microsoft.com/office/powerpoint/2010/main" val="159881742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theme/theme1.xml><?xml version="1.0" encoding="utf-8"?>
<a:theme xmlns:a="http://schemas.openxmlformats.org/drawingml/2006/main" name="Creativity and Innovation Agency by Slidesgo">
  <a:themeElements>
    <a:clrScheme name="Simple Light">
      <a:dk1>
        <a:srgbClr val="FFFFFF"/>
      </a:dk1>
      <a:lt1>
        <a:srgbClr val="160020"/>
      </a:lt1>
      <a:dk2>
        <a:srgbClr val="7F1ECC"/>
      </a:dk2>
      <a:lt2>
        <a:srgbClr val="B621A5"/>
      </a:lt2>
      <a:accent1>
        <a:srgbClr val="FB98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709</Words>
  <Application>Microsoft Office PowerPoint</Application>
  <PresentationFormat>On-screen Show (16:9)</PresentationFormat>
  <Paragraphs>97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Cooper Black</vt:lpstr>
      <vt:lpstr>Kanit</vt:lpstr>
      <vt:lpstr>DM Sans</vt:lpstr>
      <vt:lpstr>Arial</vt:lpstr>
      <vt:lpstr>Sans Serif Collection</vt:lpstr>
      <vt:lpstr>Wingdings</vt:lpstr>
      <vt:lpstr>Creativity and Innovation Agency by Slidesgo</vt:lpstr>
      <vt:lpstr>AI &amp; CODING HACKATHON 2025 </vt:lpstr>
      <vt:lpstr>PROJECT THEME</vt:lpstr>
      <vt:lpstr>IDEA SUMMARY</vt:lpstr>
      <vt:lpstr>PROPOSED SOLUTION (WITH HARDWARE &amp; SOFTWARE CONFIGURATION)</vt:lpstr>
      <vt:lpstr>PowerPoint Presentation</vt:lpstr>
      <vt:lpstr>PowerPoint Presentation</vt:lpstr>
      <vt:lpstr>PROTOTYPE</vt:lpstr>
      <vt:lpstr>INNOVATION AND CREATIVITY</vt:lpstr>
      <vt:lpstr>SOCIAL IMPACT AND SCALABILITY: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CODING HACKATHON 2025 </dc:title>
  <dc:creator>LALTA PRASAD RATURI</dc:creator>
  <cp:lastModifiedBy>Khushi Chauhan</cp:lastModifiedBy>
  <cp:revision>5</cp:revision>
  <dcterms:modified xsi:type="dcterms:W3CDTF">2025-10-31T10:30:29Z</dcterms:modified>
</cp:coreProperties>
</file>